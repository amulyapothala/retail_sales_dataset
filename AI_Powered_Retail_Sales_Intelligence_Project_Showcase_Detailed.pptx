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66" d="100"/>
          <a:sy n="66" d="100"/>
        </p:scale>
        <p:origin x="1301" y="31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ulya Pothala" userId="d5dbb72c6059eb29" providerId="LiveId" clId="{EA83F87F-B7ED-4BC0-AFF7-30BAE9619DFE}"/>
    <pc:docChg chg="undo custSel modSld">
      <pc:chgData name="Amulya Pothala" userId="d5dbb72c6059eb29" providerId="LiveId" clId="{EA83F87F-B7ED-4BC0-AFF7-30BAE9619DFE}" dt="2026-08-14T06:58:20.135" v="19" actId="1076"/>
      <pc:docMkLst>
        <pc:docMk/>
      </pc:docMkLst>
      <pc:sldChg chg="modSp mod">
        <pc:chgData name="Amulya Pothala" userId="d5dbb72c6059eb29" providerId="LiveId" clId="{EA83F87F-B7ED-4BC0-AFF7-30BAE9619DFE}" dt="2026-08-14T06:58:20.135" v="19" actId="1076"/>
        <pc:sldMkLst>
          <pc:docMk/>
          <pc:sldMk cId="0" sldId="256"/>
        </pc:sldMkLst>
        <pc:spChg chg="mod">
          <ac:chgData name="Amulya Pothala" userId="d5dbb72c6059eb29" providerId="LiveId" clId="{EA83F87F-B7ED-4BC0-AFF7-30BAE9619DFE}" dt="2026-08-14T06:57:56.721" v="13" actId="20577"/>
          <ac:spMkLst>
            <pc:docMk/>
            <pc:sldMk cId="0" sldId="256"/>
            <ac:spMk id="5" creationId="{00000000-0000-0000-0000-000000000000}"/>
          </ac:spMkLst>
        </pc:spChg>
        <pc:spChg chg="mod">
          <ac:chgData name="Amulya Pothala" userId="d5dbb72c6059eb29" providerId="LiveId" clId="{EA83F87F-B7ED-4BC0-AFF7-30BAE9619DFE}" dt="2026-08-14T06:58:20.135" v="19" actId="1076"/>
          <ac:spMkLst>
            <pc:docMk/>
            <pc:sldMk cId="0" sldId="256"/>
            <ac:spMk id="6" creationId="{00000000-0000-0000-0000-000000000000}"/>
          </ac:spMkLst>
        </pc:spChg>
        <pc:spChg chg="mod">
          <ac:chgData name="Amulya Pothala" userId="d5dbb72c6059eb29" providerId="LiveId" clId="{EA83F87F-B7ED-4BC0-AFF7-30BAE9619DFE}" dt="2026-08-14T06:58:19.047" v="18" actId="1076"/>
          <ac:spMkLst>
            <pc:docMk/>
            <pc:sldMk cId="0" sldId="256"/>
            <ac:spMk id="7" creationId="{00000000-0000-0000-0000-000000000000}"/>
          </ac:spMkLst>
        </pc:spChg>
        <pc:spChg chg="mod">
          <ac:chgData name="Amulya Pothala" userId="d5dbb72c6059eb29" providerId="LiveId" clId="{EA83F87F-B7ED-4BC0-AFF7-30BAE9619DFE}" dt="2026-08-14T06:58:18.444" v="17" actId="1076"/>
          <ac:spMkLst>
            <pc:docMk/>
            <pc:sldMk cId="0" sldId="256"/>
            <ac:spMk id="8"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233A"/>
          </a:solidFill>
          <a:ln>
            <a:solidFill>
              <a:srgbClr val="122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94360" y="685800"/>
            <a:ext cx="109728" cy="5394960"/>
          </a:xfrm>
          <a:prstGeom prst="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914400"/>
            <a:ext cx="2743200" cy="320040"/>
          </a:xfrm>
          <a:prstGeom prst="rect">
            <a:avLst/>
          </a:prstGeom>
          <a:noFill/>
        </p:spPr>
        <p:txBody>
          <a:bodyPr wrap="square">
            <a:spAutoFit/>
          </a:bodyPr>
          <a:lstStyle/>
          <a:p>
            <a:pPr algn="l">
              <a:defRPr sz="1200" b="1">
                <a:solidFill>
                  <a:srgbClr val="26A69A"/>
                </a:solidFill>
                <a:latin typeface="Aptos"/>
              </a:defRPr>
            </a:pPr>
            <a:r>
              <a:t>PROJECT SHOWCASE</a:t>
            </a:r>
          </a:p>
        </p:txBody>
      </p:sp>
      <p:sp>
        <p:nvSpPr>
          <p:cNvPr id="5" name="TextBox 4"/>
          <p:cNvSpPr txBox="1"/>
          <p:nvPr/>
        </p:nvSpPr>
        <p:spPr>
          <a:xfrm>
            <a:off x="1051560" y="1417320"/>
            <a:ext cx="9875520" cy="615553"/>
          </a:xfrm>
          <a:prstGeom prst="rect">
            <a:avLst/>
          </a:prstGeom>
          <a:noFill/>
        </p:spPr>
        <p:txBody>
          <a:bodyPr wrap="square">
            <a:spAutoFit/>
          </a:bodyPr>
          <a:lstStyle/>
          <a:p>
            <a:pPr algn="l">
              <a:defRPr sz="3400" b="1">
                <a:solidFill>
                  <a:srgbClr val="FFFFFF"/>
                </a:solidFill>
                <a:latin typeface="Aptos"/>
              </a:defRPr>
            </a:pPr>
            <a:r>
              <a:rPr dirty="0"/>
              <a:t> Retail</a:t>
            </a:r>
            <a:r>
              <a:rPr lang="en-US" dirty="0"/>
              <a:t>   </a:t>
            </a:r>
            <a:r>
              <a:rPr dirty="0"/>
              <a:t>Sales Intelligence Dashboard</a:t>
            </a:r>
          </a:p>
        </p:txBody>
      </p:sp>
      <p:sp>
        <p:nvSpPr>
          <p:cNvPr id="6" name="TextBox 5"/>
          <p:cNvSpPr txBox="1"/>
          <p:nvPr/>
        </p:nvSpPr>
        <p:spPr>
          <a:xfrm>
            <a:off x="1051560" y="3246120"/>
            <a:ext cx="8961120" cy="777240"/>
          </a:xfrm>
          <a:prstGeom prst="rect">
            <a:avLst/>
          </a:prstGeom>
          <a:noFill/>
        </p:spPr>
        <p:txBody>
          <a:bodyPr wrap="square">
            <a:spAutoFit/>
          </a:bodyPr>
          <a:lstStyle/>
          <a:p>
            <a:pPr algn="l">
              <a:defRPr sz="1900" b="0">
                <a:solidFill>
                  <a:srgbClr val="DAE2EE"/>
                </a:solidFill>
                <a:latin typeface="Aptos"/>
              </a:defRPr>
            </a:pPr>
            <a:r>
              <a:rPr dirty="0"/>
              <a:t>An Excel-based Business Intelligence solution for transforming retail sales data into actionable insights.</a:t>
            </a:r>
          </a:p>
        </p:txBody>
      </p:sp>
      <p:sp>
        <p:nvSpPr>
          <p:cNvPr id="7" name="Rounded Rectangle 6"/>
          <p:cNvSpPr/>
          <p:nvPr/>
        </p:nvSpPr>
        <p:spPr>
          <a:xfrm>
            <a:off x="1051560" y="4617720"/>
            <a:ext cx="2834640" cy="502920"/>
          </a:xfrm>
          <a:prstGeom prst="round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34440" y="4736592"/>
            <a:ext cx="2468880" cy="228600"/>
          </a:xfrm>
          <a:prstGeom prst="rect">
            <a:avLst/>
          </a:prstGeom>
          <a:noFill/>
        </p:spPr>
        <p:txBody>
          <a:bodyPr wrap="square">
            <a:spAutoFit/>
          </a:bodyPr>
          <a:lstStyle/>
          <a:p>
            <a:pPr algn="ctr">
              <a:defRPr sz="1200" b="1">
                <a:solidFill>
                  <a:srgbClr val="FFFFFF"/>
                </a:solidFill>
                <a:latin typeface="Aptos"/>
              </a:defRPr>
            </a:pPr>
            <a:r>
              <a:rPr dirty="0"/>
              <a:t>Excel  •  Data Analytics  •  BI</a:t>
            </a:r>
          </a:p>
        </p:txBody>
      </p:sp>
      <p:sp>
        <p:nvSpPr>
          <p:cNvPr id="9" name="TextBox 8"/>
          <p:cNvSpPr txBox="1"/>
          <p:nvPr/>
        </p:nvSpPr>
        <p:spPr>
          <a:xfrm>
            <a:off x="1051560" y="5715000"/>
            <a:ext cx="3657600" cy="320040"/>
          </a:xfrm>
          <a:prstGeom prst="rect">
            <a:avLst/>
          </a:prstGeom>
          <a:noFill/>
        </p:spPr>
        <p:txBody>
          <a:bodyPr wrap="square">
            <a:spAutoFit/>
          </a:bodyPr>
          <a:lstStyle/>
          <a:p>
            <a:pPr algn="l">
              <a:defRPr sz="1300" b="0">
                <a:solidFill>
                  <a:srgbClr val="B4C3D7"/>
                </a:solidFill>
                <a:latin typeface="Aptos"/>
              </a:defRPr>
            </a:pPr>
            <a:r>
              <a:t>Retail Sales Analytics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solidFill>
              <a:srgbClr val="F4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789920" cy="502920"/>
          </a:xfrm>
          <a:prstGeom prst="rect">
            <a:avLst/>
          </a:prstGeom>
          <a:noFill/>
        </p:spPr>
        <p:txBody>
          <a:bodyPr wrap="square">
            <a:spAutoFit/>
          </a:bodyPr>
          <a:lstStyle/>
          <a:p>
            <a:pPr algn="l">
              <a:defRPr sz="2800" b="1">
                <a:solidFill>
                  <a:srgbClr val="12233A"/>
                </a:solidFill>
                <a:latin typeface="Aptos"/>
              </a:defRPr>
            </a:pPr>
            <a:r>
              <a:t>Problem Statement</a:t>
            </a:r>
          </a:p>
        </p:txBody>
      </p:sp>
      <p:sp>
        <p:nvSpPr>
          <p:cNvPr id="5" name="TextBox 4"/>
          <p:cNvSpPr txBox="1"/>
          <p:nvPr/>
        </p:nvSpPr>
        <p:spPr>
          <a:xfrm>
            <a:off x="9875520" y="438912"/>
            <a:ext cx="1645920" cy="274320"/>
          </a:xfrm>
          <a:prstGeom prst="rect">
            <a:avLst/>
          </a:prstGeom>
          <a:noFill/>
        </p:spPr>
        <p:txBody>
          <a:bodyPr wrap="square">
            <a:spAutoFit/>
          </a:bodyPr>
          <a:lstStyle/>
          <a:p>
            <a:pPr algn="r">
              <a:defRPr sz="1000" b="1">
                <a:solidFill>
                  <a:srgbClr val="26A69A"/>
                </a:solidFill>
                <a:latin typeface="Aptos"/>
              </a:defRPr>
            </a:pPr>
            <a:r>
              <a:t>01 • BUSINESS CONTEXT</a:t>
            </a:r>
          </a:p>
        </p:txBody>
      </p:sp>
      <p:sp>
        <p:nvSpPr>
          <p:cNvPr id="6" name="TextBox 5"/>
          <p:cNvSpPr txBox="1"/>
          <p:nvPr/>
        </p:nvSpPr>
        <p:spPr>
          <a:xfrm>
            <a:off x="11201400" y="6446520"/>
            <a:ext cx="411480" cy="228600"/>
          </a:xfrm>
          <a:prstGeom prst="rect">
            <a:avLst/>
          </a:prstGeom>
          <a:noFill/>
        </p:spPr>
        <p:txBody>
          <a:bodyPr wrap="square">
            <a:spAutoFit/>
          </a:bodyPr>
          <a:lstStyle/>
          <a:p>
            <a:pPr algn="r">
              <a:defRPr sz="1000" b="0">
                <a:solidFill>
                  <a:srgbClr val="677280"/>
                </a:solidFill>
                <a:latin typeface="Aptos"/>
              </a:defRPr>
            </a:pPr>
            <a:r>
              <a:t>02</a:t>
            </a:r>
          </a:p>
        </p:txBody>
      </p:sp>
      <p:sp>
        <p:nvSpPr>
          <p:cNvPr id="7" name="Rounded Rectangle 6"/>
          <p:cNvSpPr/>
          <p:nvPr/>
        </p:nvSpPr>
        <p:spPr>
          <a:xfrm>
            <a:off x="640080" y="1234440"/>
            <a:ext cx="10972800" cy="452628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72768"/>
            <a:ext cx="2011680" cy="274320"/>
          </a:xfrm>
          <a:prstGeom prst="rect">
            <a:avLst/>
          </a:prstGeom>
          <a:noFill/>
        </p:spPr>
        <p:txBody>
          <a:bodyPr wrap="square">
            <a:spAutoFit/>
          </a:bodyPr>
          <a:lstStyle/>
          <a:p>
            <a:pPr algn="l">
              <a:defRPr sz="1200" b="1">
                <a:solidFill>
                  <a:srgbClr val="26A69A"/>
                </a:solidFill>
                <a:latin typeface="Aptos"/>
              </a:defRPr>
            </a:pPr>
            <a:r>
              <a:t>THE CHALLENGE</a:t>
            </a:r>
          </a:p>
        </p:txBody>
      </p:sp>
      <p:sp>
        <p:nvSpPr>
          <p:cNvPr id="9" name="TextBox 8"/>
          <p:cNvSpPr txBox="1"/>
          <p:nvPr/>
        </p:nvSpPr>
        <p:spPr>
          <a:xfrm>
            <a:off x="914400" y="1965960"/>
            <a:ext cx="10241280" cy="1051560"/>
          </a:xfrm>
          <a:prstGeom prst="rect">
            <a:avLst/>
          </a:prstGeom>
          <a:noFill/>
        </p:spPr>
        <p:txBody>
          <a:bodyPr wrap="square">
            <a:spAutoFit/>
          </a:bodyPr>
          <a:lstStyle/>
          <a:p>
            <a:pPr algn="l">
              <a:defRPr sz="2000" b="1">
                <a:solidFill>
                  <a:srgbClr val="12233A"/>
                </a:solidFill>
                <a:latin typeface="Aptos"/>
              </a:defRPr>
            </a:pPr>
            <a:r>
              <a:t>Retail businesses generate large volumes of sales data, but raw data alone does not clearly explain where revenue is coming from, which products are profitable, which regions perform best, or where improvement opportunities exist.</a:t>
            </a:r>
          </a:p>
        </p:txBody>
      </p:sp>
      <p:sp>
        <p:nvSpPr>
          <p:cNvPr id="10" name="TextBox 9"/>
          <p:cNvSpPr txBox="1"/>
          <p:nvPr/>
        </p:nvSpPr>
        <p:spPr>
          <a:xfrm>
            <a:off x="914400" y="3246120"/>
            <a:ext cx="10058400" cy="2011680"/>
          </a:xfrm>
          <a:prstGeom prst="rect">
            <a:avLst/>
          </a:prstGeom>
          <a:noFill/>
        </p:spPr>
        <p:txBody>
          <a:bodyPr wrap="square">
            <a:spAutoFit/>
          </a:bodyPr>
          <a:lstStyle/>
          <a:p>
            <a:pPr>
              <a:spcAft>
                <a:spcPts val="1200"/>
              </a:spcAft>
              <a:defRPr sz="1600">
                <a:solidFill>
                  <a:srgbClr val="28303C"/>
                </a:solidFill>
                <a:latin typeface="Aptos"/>
              </a:defRPr>
            </a:pPr>
            <a:r>
              <a:t>Sales information is spread across multiple business dimensions such as products, categories, regions and customer segments.</a:t>
            </a:r>
          </a:p>
          <a:p>
            <a:pPr>
              <a:spcAft>
                <a:spcPts val="1200"/>
              </a:spcAft>
              <a:defRPr sz="1600">
                <a:solidFill>
                  <a:srgbClr val="28303C"/>
                </a:solidFill>
                <a:latin typeface="Aptos"/>
              </a:defRPr>
            </a:pPr>
            <a:r>
              <a:t>Identifying trends and performance drivers manually can be time-consuming.</a:t>
            </a:r>
          </a:p>
          <a:p>
            <a:pPr>
              <a:spcAft>
                <a:spcPts val="1200"/>
              </a:spcAft>
              <a:defRPr sz="1600">
                <a:solidFill>
                  <a:srgbClr val="28303C"/>
                </a:solidFill>
                <a:latin typeface="Aptos"/>
              </a:defRPr>
            </a:pPr>
            <a:r>
              <a:t>Decision-makers need a simple, interactive view of KPIs and business performance.</a:t>
            </a:r>
          </a:p>
          <a:p>
            <a:pPr>
              <a:spcAft>
                <a:spcPts val="1200"/>
              </a:spcAft>
              <a:defRPr sz="1600">
                <a:solidFill>
                  <a:srgbClr val="28303C"/>
                </a:solidFill>
                <a:latin typeface="Aptos"/>
              </a:defRPr>
            </a:pPr>
            <a:r>
              <a:t>The project addresses this gap by converting retail data into a visual Excel Business Intelligence dashboard.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solidFill>
              <a:srgbClr val="F4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789920" cy="502920"/>
          </a:xfrm>
          <a:prstGeom prst="rect">
            <a:avLst/>
          </a:prstGeom>
          <a:noFill/>
        </p:spPr>
        <p:txBody>
          <a:bodyPr wrap="square">
            <a:spAutoFit/>
          </a:bodyPr>
          <a:lstStyle/>
          <a:p>
            <a:pPr algn="l">
              <a:defRPr sz="2800" b="1">
                <a:solidFill>
                  <a:srgbClr val="12233A"/>
                </a:solidFill>
                <a:latin typeface="Aptos"/>
              </a:defRPr>
            </a:pPr>
            <a:r>
              <a:t>Project Goal &amp; Objectives</a:t>
            </a:r>
          </a:p>
        </p:txBody>
      </p:sp>
      <p:sp>
        <p:nvSpPr>
          <p:cNvPr id="5" name="TextBox 4"/>
          <p:cNvSpPr txBox="1"/>
          <p:nvPr/>
        </p:nvSpPr>
        <p:spPr>
          <a:xfrm>
            <a:off x="9875520" y="438912"/>
            <a:ext cx="1645920" cy="274320"/>
          </a:xfrm>
          <a:prstGeom prst="rect">
            <a:avLst/>
          </a:prstGeom>
          <a:noFill/>
        </p:spPr>
        <p:txBody>
          <a:bodyPr wrap="square">
            <a:spAutoFit/>
          </a:bodyPr>
          <a:lstStyle/>
          <a:p>
            <a:pPr algn="r">
              <a:defRPr sz="1000" b="1">
                <a:solidFill>
                  <a:srgbClr val="26A69A"/>
                </a:solidFill>
                <a:latin typeface="Aptos"/>
              </a:defRPr>
            </a:pPr>
            <a:r>
              <a:t>02 • SCOPE</a:t>
            </a:r>
          </a:p>
        </p:txBody>
      </p:sp>
      <p:sp>
        <p:nvSpPr>
          <p:cNvPr id="6" name="TextBox 5"/>
          <p:cNvSpPr txBox="1"/>
          <p:nvPr/>
        </p:nvSpPr>
        <p:spPr>
          <a:xfrm>
            <a:off x="11201400" y="6446520"/>
            <a:ext cx="411480" cy="228600"/>
          </a:xfrm>
          <a:prstGeom prst="rect">
            <a:avLst/>
          </a:prstGeom>
          <a:noFill/>
        </p:spPr>
        <p:txBody>
          <a:bodyPr wrap="square">
            <a:spAutoFit/>
          </a:bodyPr>
          <a:lstStyle/>
          <a:p>
            <a:pPr algn="r">
              <a:defRPr sz="1000" b="0">
                <a:solidFill>
                  <a:srgbClr val="677280"/>
                </a:solidFill>
                <a:latin typeface="Aptos"/>
              </a:defRPr>
            </a:pPr>
            <a:r>
              <a:t>03</a:t>
            </a:r>
          </a:p>
        </p:txBody>
      </p:sp>
      <p:sp>
        <p:nvSpPr>
          <p:cNvPr id="7" name="Rounded Rectangle 6"/>
          <p:cNvSpPr/>
          <p:nvPr/>
        </p:nvSpPr>
        <p:spPr>
          <a:xfrm>
            <a:off x="685800" y="1325880"/>
            <a:ext cx="3337560" cy="1874519"/>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508760"/>
            <a:ext cx="502920" cy="320040"/>
          </a:xfrm>
          <a:prstGeom prst="rect">
            <a:avLst/>
          </a:prstGeom>
          <a:noFill/>
        </p:spPr>
        <p:txBody>
          <a:bodyPr wrap="square">
            <a:spAutoFit/>
          </a:bodyPr>
          <a:lstStyle/>
          <a:p>
            <a:pPr algn="l">
              <a:defRPr sz="1200" b="1">
                <a:solidFill>
                  <a:srgbClr val="26A69A"/>
                </a:solidFill>
                <a:latin typeface="Aptos"/>
              </a:defRPr>
            </a:pPr>
            <a:r>
              <a:t>01</a:t>
            </a:r>
          </a:p>
        </p:txBody>
      </p:sp>
      <p:sp>
        <p:nvSpPr>
          <p:cNvPr id="9" name="TextBox 8"/>
          <p:cNvSpPr txBox="1"/>
          <p:nvPr/>
        </p:nvSpPr>
        <p:spPr>
          <a:xfrm>
            <a:off x="914400" y="1892807"/>
            <a:ext cx="2743200" cy="411480"/>
          </a:xfrm>
          <a:prstGeom prst="rect">
            <a:avLst/>
          </a:prstGeom>
          <a:noFill/>
        </p:spPr>
        <p:txBody>
          <a:bodyPr wrap="square">
            <a:spAutoFit/>
          </a:bodyPr>
          <a:lstStyle/>
          <a:p>
            <a:pPr algn="l">
              <a:defRPr sz="2100" b="1">
                <a:solidFill>
                  <a:srgbClr val="12233A"/>
                </a:solidFill>
                <a:latin typeface="Aptos"/>
              </a:defRPr>
            </a:pPr>
            <a:r>
              <a:t>Analyze</a:t>
            </a:r>
          </a:p>
        </p:txBody>
      </p:sp>
      <p:sp>
        <p:nvSpPr>
          <p:cNvPr id="10" name="TextBox 9"/>
          <p:cNvSpPr txBox="1"/>
          <p:nvPr/>
        </p:nvSpPr>
        <p:spPr>
          <a:xfrm>
            <a:off x="914400" y="2377439"/>
            <a:ext cx="2788920" cy="594360"/>
          </a:xfrm>
          <a:prstGeom prst="rect">
            <a:avLst/>
          </a:prstGeom>
          <a:noFill/>
        </p:spPr>
        <p:txBody>
          <a:bodyPr wrap="square">
            <a:spAutoFit/>
          </a:bodyPr>
          <a:lstStyle/>
          <a:p>
            <a:pPr algn="l">
              <a:defRPr sz="1300" b="0">
                <a:solidFill>
                  <a:srgbClr val="677280"/>
                </a:solidFill>
                <a:latin typeface="Aptos"/>
              </a:defRPr>
            </a:pPr>
            <a:r>
              <a:t>Sales, profit, quantity and order performance.</a:t>
            </a:r>
          </a:p>
        </p:txBody>
      </p:sp>
      <p:sp>
        <p:nvSpPr>
          <p:cNvPr id="11" name="Rounded Rectangle 10"/>
          <p:cNvSpPr/>
          <p:nvPr/>
        </p:nvSpPr>
        <p:spPr>
          <a:xfrm>
            <a:off x="4389120" y="1325880"/>
            <a:ext cx="3337560" cy="1874519"/>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17720" y="1508760"/>
            <a:ext cx="502920" cy="320040"/>
          </a:xfrm>
          <a:prstGeom prst="rect">
            <a:avLst/>
          </a:prstGeom>
          <a:noFill/>
        </p:spPr>
        <p:txBody>
          <a:bodyPr wrap="square">
            <a:spAutoFit/>
          </a:bodyPr>
          <a:lstStyle/>
          <a:p>
            <a:pPr algn="l">
              <a:defRPr sz="1200" b="1">
                <a:solidFill>
                  <a:srgbClr val="26A69A"/>
                </a:solidFill>
                <a:latin typeface="Aptos"/>
              </a:defRPr>
            </a:pPr>
            <a:r>
              <a:t>02</a:t>
            </a:r>
          </a:p>
        </p:txBody>
      </p:sp>
      <p:sp>
        <p:nvSpPr>
          <p:cNvPr id="13" name="TextBox 12"/>
          <p:cNvSpPr txBox="1"/>
          <p:nvPr/>
        </p:nvSpPr>
        <p:spPr>
          <a:xfrm>
            <a:off x="4617720" y="1892807"/>
            <a:ext cx="2743200" cy="411480"/>
          </a:xfrm>
          <a:prstGeom prst="rect">
            <a:avLst/>
          </a:prstGeom>
          <a:noFill/>
        </p:spPr>
        <p:txBody>
          <a:bodyPr wrap="square">
            <a:spAutoFit/>
          </a:bodyPr>
          <a:lstStyle/>
          <a:p>
            <a:pPr algn="l">
              <a:defRPr sz="2100" b="1">
                <a:solidFill>
                  <a:srgbClr val="12233A"/>
                </a:solidFill>
                <a:latin typeface="Aptos"/>
              </a:defRPr>
            </a:pPr>
            <a:r>
              <a:t>Identify</a:t>
            </a:r>
          </a:p>
        </p:txBody>
      </p:sp>
      <p:sp>
        <p:nvSpPr>
          <p:cNvPr id="14" name="TextBox 13"/>
          <p:cNvSpPr txBox="1"/>
          <p:nvPr/>
        </p:nvSpPr>
        <p:spPr>
          <a:xfrm>
            <a:off x="4617720" y="2377439"/>
            <a:ext cx="2788920" cy="594360"/>
          </a:xfrm>
          <a:prstGeom prst="rect">
            <a:avLst/>
          </a:prstGeom>
          <a:noFill/>
        </p:spPr>
        <p:txBody>
          <a:bodyPr wrap="square">
            <a:spAutoFit/>
          </a:bodyPr>
          <a:lstStyle/>
          <a:p>
            <a:pPr algn="l">
              <a:defRPr sz="1300" b="0">
                <a:solidFill>
                  <a:srgbClr val="677280"/>
                </a:solidFill>
                <a:latin typeface="Aptos"/>
              </a:defRPr>
            </a:pPr>
            <a:r>
              <a:t>Top products, categories, regions and customer segments.</a:t>
            </a:r>
          </a:p>
        </p:txBody>
      </p:sp>
      <p:sp>
        <p:nvSpPr>
          <p:cNvPr id="15" name="Rounded Rectangle 14"/>
          <p:cNvSpPr/>
          <p:nvPr/>
        </p:nvSpPr>
        <p:spPr>
          <a:xfrm>
            <a:off x="8092440" y="1325880"/>
            <a:ext cx="3337560" cy="1874519"/>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1508760"/>
            <a:ext cx="502920" cy="320040"/>
          </a:xfrm>
          <a:prstGeom prst="rect">
            <a:avLst/>
          </a:prstGeom>
          <a:noFill/>
        </p:spPr>
        <p:txBody>
          <a:bodyPr wrap="square">
            <a:spAutoFit/>
          </a:bodyPr>
          <a:lstStyle/>
          <a:p>
            <a:pPr algn="l">
              <a:defRPr sz="1200" b="1">
                <a:solidFill>
                  <a:srgbClr val="26A69A"/>
                </a:solidFill>
                <a:latin typeface="Aptos"/>
              </a:defRPr>
            </a:pPr>
            <a:r>
              <a:t>03</a:t>
            </a:r>
          </a:p>
        </p:txBody>
      </p:sp>
      <p:sp>
        <p:nvSpPr>
          <p:cNvPr id="17" name="TextBox 16"/>
          <p:cNvSpPr txBox="1"/>
          <p:nvPr/>
        </p:nvSpPr>
        <p:spPr>
          <a:xfrm>
            <a:off x="8321040" y="1892807"/>
            <a:ext cx="2743200" cy="411480"/>
          </a:xfrm>
          <a:prstGeom prst="rect">
            <a:avLst/>
          </a:prstGeom>
          <a:noFill/>
        </p:spPr>
        <p:txBody>
          <a:bodyPr wrap="square">
            <a:spAutoFit/>
          </a:bodyPr>
          <a:lstStyle/>
          <a:p>
            <a:pPr algn="l">
              <a:defRPr sz="2100" b="1">
                <a:solidFill>
                  <a:srgbClr val="12233A"/>
                </a:solidFill>
                <a:latin typeface="Aptos"/>
              </a:defRPr>
            </a:pPr>
            <a:r>
              <a:rPr dirty="0"/>
              <a:t>Compare</a:t>
            </a:r>
          </a:p>
        </p:txBody>
      </p:sp>
      <p:sp>
        <p:nvSpPr>
          <p:cNvPr id="18" name="TextBox 17"/>
          <p:cNvSpPr txBox="1"/>
          <p:nvPr/>
        </p:nvSpPr>
        <p:spPr>
          <a:xfrm>
            <a:off x="8321040" y="2377439"/>
            <a:ext cx="2788920" cy="594360"/>
          </a:xfrm>
          <a:prstGeom prst="rect">
            <a:avLst/>
          </a:prstGeom>
          <a:noFill/>
        </p:spPr>
        <p:txBody>
          <a:bodyPr wrap="square">
            <a:spAutoFit/>
          </a:bodyPr>
          <a:lstStyle/>
          <a:p>
            <a:pPr algn="l">
              <a:defRPr sz="1300" b="0">
                <a:solidFill>
                  <a:srgbClr val="677280"/>
                </a:solidFill>
                <a:latin typeface="Aptos"/>
              </a:defRPr>
            </a:pPr>
            <a:r>
              <a:t>Business performance across time and key dimensions.</a:t>
            </a:r>
          </a:p>
        </p:txBody>
      </p:sp>
      <p:sp>
        <p:nvSpPr>
          <p:cNvPr id="19" name="Rounded Rectangle 18"/>
          <p:cNvSpPr/>
          <p:nvPr/>
        </p:nvSpPr>
        <p:spPr>
          <a:xfrm>
            <a:off x="685800" y="3566160"/>
            <a:ext cx="3337560" cy="1874519"/>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3749040"/>
            <a:ext cx="502920" cy="320040"/>
          </a:xfrm>
          <a:prstGeom prst="rect">
            <a:avLst/>
          </a:prstGeom>
          <a:noFill/>
        </p:spPr>
        <p:txBody>
          <a:bodyPr wrap="square">
            <a:spAutoFit/>
          </a:bodyPr>
          <a:lstStyle/>
          <a:p>
            <a:pPr algn="l">
              <a:defRPr sz="1200" b="1">
                <a:solidFill>
                  <a:srgbClr val="26A69A"/>
                </a:solidFill>
                <a:latin typeface="Aptos"/>
              </a:defRPr>
            </a:pPr>
            <a:r>
              <a:t>04</a:t>
            </a:r>
          </a:p>
        </p:txBody>
      </p:sp>
      <p:sp>
        <p:nvSpPr>
          <p:cNvPr id="21" name="TextBox 20"/>
          <p:cNvSpPr txBox="1"/>
          <p:nvPr/>
        </p:nvSpPr>
        <p:spPr>
          <a:xfrm>
            <a:off x="914400" y="4133088"/>
            <a:ext cx="2743200" cy="411480"/>
          </a:xfrm>
          <a:prstGeom prst="rect">
            <a:avLst/>
          </a:prstGeom>
          <a:noFill/>
        </p:spPr>
        <p:txBody>
          <a:bodyPr wrap="square">
            <a:spAutoFit/>
          </a:bodyPr>
          <a:lstStyle/>
          <a:p>
            <a:pPr algn="l">
              <a:defRPr sz="2100" b="1">
                <a:solidFill>
                  <a:srgbClr val="12233A"/>
                </a:solidFill>
                <a:latin typeface="Aptos"/>
              </a:defRPr>
            </a:pPr>
            <a:r>
              <a:t>Visualize</a:t>
            </a:r>
          </a:p>
        </p:txBody>
      </p:sp>
      <p:sp>
        <p:nvSpPr>
          <p:cNvPr id="22" name="TextBox 21"/>
          <p:cNvSpPr txBox="1"/>
          <p:nvPr/>
        </p:nvSpPr>
        <p:spPr>
          <a:xfrm>
            <a:off x="914400" y="4617720"/>
            <a:ext cx="2788920" cy="594360"/>
          </a:xfrm>
          <a:prstGeom prst="rect">
            <a:avLst/>
          </a:prstGeom>
          <a:noFill/>
        </p:spPr>
        <p:txBody>
          <a:bodyPr wrap="square">
            <a:spAutoFit/>
          </a:bodyPr>
          <a:lstStyle/>
          <a:p>
            <a:pPr algn="l">
              <a:defRPr sz="1300" b="0">
                <a:solidFill>
                  <a:srgbClr val="677280"/>
                </a:solidFill>
                <a:latin typeface="Aptos"/>
              </a:defRPr>
            </a:pPr>
            <a:r>
              <a:t>KPIs and trends through an interactive dashboard.</a:t>
            </a:r>
          </a:p>
        </p:txBody>
      </p:sp>
      <p:sp>
        <p:nvSpPr>
          <p:cNvPr id="23" name="Rounded Rectangle 22"/>
          <p:cNvSpPr/>
          <p:nvPr/>
        </p:nvSpPr>
        <p:spPr>
          <a:xfrm>
            <a:off x="4389120" y="3566160"/>
            <a:ext cx="3337560" cy="1874519"/>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17720" y="3749040"/>
            <a:ext cx="502920" cy="320040"/>
          </a:xfrm>
          <a:prstGeom prst="rect">
            <a:avLst/>
          </a:prstGeom>
          <a:noFill/>
        </p:spPr>
        <p:txBody>
          <a:bodyPr wrap="square">
            <a:spAutoFit/>
          </a:bodyPr>
          <a:lstStyle/>
          <a:p>
            <a:pPr algn="l">
              <a:defRPr sz="1200" b="1">
                <a:solidFill>
                  <a:srgbClr val="26A69A"/>
                </a:solidFill>
                <a:latin typeface="Aptos"/>
              </a:defRPr>
            </a:pPr>
            <a:r>
              <a:t>05</a:t>
            </a:r>
          </a:p>
        </p:txBody>
      </p:sp>
      <p:sp>
        <p:nvSpPr>
          <p:cNvPr id="25" name="TextBox 24"/>
          <p:cNvSpPr txBox="1"/>
          <p:nvPr/>
        </p:nvSpPr>
        <p:spPr>
          <a:xfrm>
            <a:off x="4617720" y="4133088"/>
            <a:ext cx="2743200" cy="411480"/>
          </a:xfrm>
          <a:prstGeom prst="rect">
            <a:avLst/>
          </a:prstGeom>
          <a:noFill/>
        </p:spPr>
        <p:txBody>
          <a:bodyPr wrap="square">
            <a:spAutoFit/>
          </a:bodyPr>
          <a:lstStyle/>
          <a:p>
            <a:pPr algn="l">
              <a:defRPr sz="2100" b="1">
                <a:solidFill>
                  <a:srgbClr val="12233A"/>
                </a:solidFill>
                <a:latin typeface="Aptos"/>
              </a:defRPr>
            </a:pPr>
            <a:r>
              <a:t>Recommend</a:t>
            </a:r>
          </a:p>
        </p:txBody>
      </p:sp>
      <p:sp>
        <p:nvSpPr>
          <p:cNvPr id="26" name="TextBox 25"/>
          <p:cNvSpPr txBox="1"/>
          <p:nvPr/>
        </p:nvSpPr>
        <p:spPr>
          <a:xfrm>
            <a:off x="4617720" y="4617720"/>
            <a:ext cx="2788920" cy="594360"/>
          </a:xfrm>
          <a:prstGeom prst="rect">
            <a:avLst/>
          </a:prstGeom>
          <a:noFill/>
        </p:spPr>
        <p:txBody>
          <a:bodyPr wrap="square">
            <a:spAutoFit/>
          </a:bodyPr>
          <a:lstStyle/>
          <a:p>
            <a:pPr algn="l">
              <a:defRPr sz="1300" b="0">
                <a:solidFill>
                  <a:srgbClr val="677280"/>
                </a:solidFill>
                <a:latin typeface="Aptos"/>
              </a:defRPr>
            </a:pPr>
            <a:r>
              <a:t>Convert findings into practical business actions.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solidFill>
              <a:srgbClr val="F4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789920" cy="502920"/>
          </a:xfrm>
          <a:prstGeom prst="rect">
            <a:avLst/>
          </a:prstGeom>
          <a:noFill/>
        </p:spPr>
        <p:txBody>
          <a:bodyPr wrap="square">
            <a:spAutoFit/>
          </a:bodyPr>
          <a:lstStyle/>
          <a:p>
            <a:pPr algn="l">
              <a:defRPr sz="2800" b="1">
                <a:solidFill>
                  <a:srgbClr val="12233A"/>
                </a:solidFill>
                <a:latin typeface="Aptos"/>
              </a:defRPr>
            </a:pPr>
            <a:r>
              <a:t>Dataset Overview</a:t>
            </a:r>
          </a:p>
        </p:txBody>
      </p:sp>
      <p:sp>
        <p:nvSpPr>
          <p:cNvPr id="5" name="TextBox 4"/>
          <p:cNvSpPr txBox="1"/>
          <p:nvPr/>
        </p:nvSpPr>
        <p:spPr>
          <a:xfrm>
            <a:off x="9875520" y="438912"/>
            <a:ext cx="1645920" cy="274320"/>
          </a:xfrm>
          <a:prstGeom prst="rect">
            <a:avLst/>
          </a:prstGeom>
          <a:noFill/>
        </p:spPr>
        <p:txBody>
          <a:bodyPr wrap="square">
            <a:spAutoFit/>
          </a:bodyPr>
          <a:lstStyle/>
          <a:p>
            <a:pPr algn="r">
              <a:defRPr sz="1000" b="1">
                <a:solidFill>
                  <a:srgbClr val="26A69A"/>
                </a:solidFill>
                <a:latin typeface="Aptos"/>
              </a:defRPr>
            </a:pPr>
            <a:r>
              <a:t>03 • DATA</a:t>
            </a:r>
          </a:p>
        </p:txBody>
      </p:sp>
      <p:sp>
        <p:nvSpPr>
          <p:cNvPr id="6" name="TextBox 5"/>
          <p:cNvSpPr txBox="1"/>
          <p:nvPr/>
        </p:nvSpPr>
        <p:spPr>
          <a:xfrm>
            <a:off x="11201400" y="6446520"/>
            <a:ext cx="411480" cy="228600"/>
          </a:xfrm>
          <a:prstGeom prst="rect">
            <a:avLst/>
          </a:prstGeom>
          <a:noFill/>
        </p:spPr>
        <p:txBody>
          <a:bodyPr wrap="square">
            <a:spAutoFit/>
          </a:bodyPr>
          <a:lstStyle/>
          <a:p>
            <a:pPr algn="r">
              <a:defRPr sz="1000" b="0">
                <a:solidFill>
                  <a:srgbClr val="677280"/>
                </a:solidFill>
                <a:latin typeface="Aptos"/>
              </a:defRPr>
            </a:pPr>
            <a:r>
              <a:t>04</a:t>
            </a:r>
          </a:p>
        </p:txBody>
      </p:sp>
      <p:sp>
        <p:nvSpPr>
          <p:cNvPr id="7" name="Rounded Rectangle 6"/>
          <p:cNvSpPr/>
          <p:nvPr/>
        </p:nvSpPr>
        <p:spPr>
          <a:xfrm>
            <a:off x="685800" y="1280160"/>
            <a:ext cx="2560320" cy="155448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280160"/>
            <a:ext cx="73152" cy="1554480"/>
          </a:xfrm>
          <a:prstGeom prst="rect">
            <a:avLst/>
          </a:prstGeom>
          <a:solidFill>
            <a:srgbClr val="2B6CB0"/>
          </a:solidFill>
          <a:ln>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444751"/>
            <a:ext cx="2194560" cy="274320"/>
          </a:xfrm>
          <a:prstGeom prst="rect">
            <a:avLst/>
          </a:prstGeom>
          <a:noFill/>
        </p:spPr>
        <p:txBody>
          <a:bodyPr wrap="square">
            <a:spAutoFit/>
          </a:bodyPr>
          <a:lstStyle/>
          <a:p>
            <a:pPr algn="l">
              <a:defRPr sz="1100" b="1">
                <a:solidFill>
                  <a:srgbClr val="677280"/>
                </a:solidFill>
                <a:latin typeface="Aptos"/>
              </a:defRPr>
            </a:pPr>
            <a:r>
              <a:t>RECORDS</a:t>
            </a:r>
          </a:p>
        </p:txBody>
      </p:sp>
      <p:sp>
        <p:nvSpPr>
          <p:cNvPr id="10" name="TextBox 9"/>
          <p:cNvSpPr txBox="1"/>
          <p:nvPr/>
        </p:nvSpPr>
        <p:spPr>
          <a:xfrm>
            <a:off x="914400" y="1783080"/>
            <a:ext cx="2194560" cy="502920"/>
          </a:xfrm>
          <a:prstGeom prst="rect">
            <a:avLst/>
          </a:prstGeom>
          <a:noFill/>
        </p:spPr>
        <p:txBody>
          <a:bodyPr wrap="square">
            <a:spAutoFit/>
          </a:bodyPr>
          <a:lstStyle/>
          <a:p>
            <a:pPr algn="l">
              <a:defRPr sz="2400" b="1">
                <a:solidFill>
                  <a:srgbClr val="12233A"/>
                </a:solidFill>
                <a:latin typeface="Aptos"/>
              </a:defRPr>
            </a:pPr>
            <a:r>
              <a:t>10,000</a:t>
            </a:r>
          </a:p>
        </p:txBody>
      </p:sp>
      <p:sp>
        <p:nvSpPr>
          <p:cNvPr id="11" name="TextBox 10"/>
          <p:cNvSpPr txBox="1"/>
          <p:nvPr/>
        </p:nvSpPr>
        <p:spPr>
          <a:xfrm>
            <a:off x="914400" y="2340863"/>
            <a:ext cx="2194560" cy="320040"/>
          </a:xfrm>
          <a:prstGeom prst="rect">
            <a:avLst/>
          </a:prstGeom>
          <a:noFill/>
        </p:spPr>
        <p:txBody>
          <a:bodyPr wrap="square">
            <a:spAutoFit/>
          </a:bodyPr>
          <a:lstStyle/>
          <a:p>
            <a:pPr algn="l">
              <a:defRPr sz="1000" b="0">
                <a:solidFill>
                  <a:srgbClr val="677280"/>
                </a:solidFill>
                <a:latin typeface="Aptos"/>
              </a:defRPr>
            </a:pPr>
            <a:r>
              <a:t>Retail sales records</a:t>
            </a:r>
          </a:p>
        </p:txBody>
      </p:sp>
      <p:sp>
        <p:nvSpPr>
          <p:cNvPr id="12" name="Rounded Rectangle 11"/>
          <p:cNvSpPr/>
          <p:nvPr/>
        </p:nvSpPr>
        <p:spPr>
          <a:xfrm>
            <a:off x="3429000" y="1280160"/>
            <a:ext cx="2560320" cy="155448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29000" y="1280160"/>
            <a:ext cx="73152" cy="1554480"/>
          </a:xfrm>
          <a:prstGeom prst="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0" y="1444751"/>
            <a:ext cx="2194560" cy="274320"/>
          </a:xfrm>
          <a:prstGeom prst="rect">
            <a:avLst/>
          </a:prstGeom>
          <a:noFill/>
        </p:spPr>
        <p:txBody>
          <a:bodyPr wrap="square">
            <a:spAutoFit/>
          </a:bodyPr>
          <a:lstStyle/>
          <a:p>
            <a:pPr algn="l">
              <a:defRPr sz="1100" b="1">
                <a:solidFill>
                  <a:srgbClr val="677280"/>
                </a:solidFill>
                <a:latin typeface="Aptos"/>
              </a:defRPr>
            </a:pPr>
            <a:r>
              <a:t>FIELDS</a:t>
            </a:r>
          </a:p>
        </p:txBody>
      </p:sp>
      <p:sp>
        <p:nvSpPr>
          <p:cNvPr id="15" name="TextBox 14"/>
          <p:cNvSpPr txBox="1"/>
          <p:nvPr/>
        </p:nvSpPr>
        <p:spPr>
          <a:xfrm>
            <a:off x="3657600" y="1783080"/>
            <a:ext cx="2194560" cy="502920"/>
          </a:xfrm>
          <a:prstGeom prst="rect">
            <a:avLst/>
          </a:prstGeom>
          <a:noFill/>
        </p:spPr>
        <p:txBody>
          <a:bodyPr wrap="square">
            <a:spAutoFit/>
          </a:bodyPr>
          <a:lstStyle/>
          <a:p>
            <a:pPr algn="l">
              <a:defRPr sz="2400" b="1">
                <a:solidFill>
                  <a:srgbClr val="12233A"/>
                </a:solidFill>
                <a:latin typeface="Aptos"/>
              </a:defRPr>
            </a:pPr>
            <a:r>
              <a:t>26</a:t>
            </a:r>
          </a:p>
        </p:txBody>
      </p:sp>
      <p:sp>
        <p:nvSpPr>
          <p:cNvPr id="16" name="TextBox 15"/>
          <p:cNvSpPr txBox="1"/>
          <p:nvPr/>
        </p:nvSpPr>
        <p:spPr>
          <a:xfrm>
            <a:off x="3657600" y="2340863"/>
            <a:ext cx="2194560" cy="320040"/>
          </a:xfrm>
          <a:prstGeom prst="rect">
            <a:avLst/>
          </a:prstGeom>
          <a:noFill/>
        </p:spPr>
        <p:txBody>
          <a:bodyPr wrap="square">
            <a:spAutoFit/>
          </a:bodyPr>
          <a:lstStyle/>
          <a:p>
            <a:pPr algn="l">
              <a:defRPr sz="1000" b="0">
                <a:solidFill>
                  <a:srgbClr val="677280"/>
                </a:solidFill>
                <a:latin typeface="Aptos"/>
              </a:defRPr>
            </a:pPr>
            <a:r>
              <a:t>Business dimensions</a:t>
            </a:r>
          </a:p>
        </p:txBody>
      </p:sp>
      <p:sp>
        <p:nvSpPr>
          <p:cNvPr id="17" name="Rounded Rectangle 16"/>
          <p:cNvSpPr/>
          <p:nvPr/>
        </p:nvSpPr>
        <p:spPr>
          <a:xfrm>
            <a:off x="6172200" y="1280160"/>
            <a:ext cx="2560320" cy="155448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72200" y="1280160"/>
            <a:ext cx="73152" cy="1554480"/>
          </a:xfrm>
          <a:prstGeom prst="rect">
            <a:avLst/>
          </a:prstGeom>
          <a:solidFill>
            <a:srgbClr val="E08533"/>
          </a:solidFill>
          <a:ln>
            <a:solidFill>
              <a:srgbClr val="E085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0" y="1444751"/>
            <a:ext cx="2194560" cy="274320"/>
          </a:xfrm>
          <a:prstGeom prst="rect">
            <a:avLst/>
          </a:prstGeom>
          <a:noFill/>
        </p:spPr>
        <p:txBody>
          <a:bodyPr wrap="square">
            <a:spAutoFit/>
          </a:bodyPr>
          <a:lstStyle/>
          <a:p>
            <a:pPr algn="l">
              <a:defRPr sz="1100" b="1">
                <a:solidFill>
                  <a:srgbClr val="677280"/>
                </a:solidFill>
                <a:latin typeface="Aptos"/>
              </a:defRPr>
            </a:pPr>
            <a:r>
              <a:t>CORE METRICS</a:t>
            </a:r>
          </a:p>
        </p:txBody>
      </p:sp>
      <p:sp>
        <p:nvSpPr>
          <p:cNvPr id="20" name="TextBox 19"/>
          <p:cNvSpPr txBox="1"/>
          <p:nvPr/>
        </p:nvSpPr>
        <p:spPr>
          <a:xfrm>
            <a:off x="6400800" y="1783080"/>
            <a:ext cx="2194560" cy="502920"/>
          </a:xfrm>
          <a:prstGeom prst="rect">
            <a:avLst/>
          </a:prstGeom>
          <a:noFill/>
        </p:spPr>
        <p:txBody>
          <a:bodyPr wrap="square">
            <a:spAutoFit/>
          </a:bodyPr>
          <a:lstStyle/>
          <a:p>
            <a:pPr algn="l">
              <a:defRPr sz="2400" b="1">
                <a:solidFill>
                  <a:srgbClr val="12233A"/>
                </a:solidFill>
                <a:latin typeface="Aptos"/>
              </a:defRPr>
            </a:pPr>
            <a:r>
              <a:t>Sales • Profit</a:t>
            </a:r>
          </a:p>
        </p:txBody>
      </p:sp>
      <p:sp>
        <p:nvSpPr>
          <p:cNvPr id="21" name="TextBox 20"/>
          <p:cNvSpPr txBox="1"/>
          <p:nvPr/>
        </p:nvSpPr>
        <p:spPr>
          <a:xfrm>
            <a:off x="6400800" y="2340863"/>
            <a:ext cx="2194560" cy="320040"/>
          </a:xfrm>
          <a:prstGeom prst="rect">
            <a:avLst/>
          </a:prstGeom>
          <a:noFill/>
        </p:spPr>
        <p:txBody>
          <a:bodyPr wrap="square">
            <a:spAutoFit/>
          </a:bodyPr>
          <a:lstStyle/>
          <a:p>
            <a:pPr algn="l">
              <a:defRPr sz="1000" b="0">
                <a:solidFill>
                  <a:srgbClr val="677280"/>
                </a:solidFill>
                <a:latin typeface="Aptos"/>
              </a:defRPr>
            </a:pPr>
            <a:r>
              <a:t>Revenue &amp; profitability</a:t>
            </a:r>
          </a:p>
        </p:txBody>
      </p:sp>
      <p:sp>
        <p:nvSpPr>
          <p:cNvPr id="22" name="Rounded Rectangle 21"/>
          <p:cNvSpPr/>
          <p:nvPr/>
        </p:nvSpPr>
        <p:spPr>
          <a:xfrm>
            <a:off x="8915400" y="1280160"/>
            <a:ext cx="2560320" cy="155448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915400" y="1280160"/>
            <a:ext cx="73152" cy="1554480"/>
          </a:xfrm>
          <a:prstGeom prst="rect">
            <a:avLst/>
          </a:prstGeom>
          <a:solidFill>
            <a:srgbClr val="277D58"/>
          </a:solidFill>
          <a:ln>
            <a:solidFill>
              <a:srgbClr val="277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0" y="1444751"/>
            <a:ext cx="2194560" cy="274320"/>
          </a:xfrm>
          <a:prstGeom prst="rect">
            <a:avLst/>
          </a:prstGeom>
          <a:noFill/>
        </p:spPr>
        <p:txBody>
          <a:bodyPr wrap="square">
            <a:spAutoFit/>
          </a:bodyPr>
          <a:lstStyle/>
          <a:p>
            <a:pPr algn="l">
              <a:defRPr sz="1100" b="1">
                <a:solidFill>
                  <a:srgbClr val="677280"/>
                </a:solidFill>
                <a:latin typeface="Aptos"/>
              </a:defRPr>
            </a:pPr>
            <a:r>
              <a:t>TIME</a:t>
            </a:r>
          </a:p>
        </p:txBody>
      </p:sp>
      <p:sp>
        <p:nvSpPr>
          <p:cNvPr id="25" name="TextBox 24"/>
          <p:cNvSpPr txBox="1"/>
          <p:nvPr/>
        </p:nvSpPr>
        <p:spPr>
          <a:xfrm>
            <a:off x="9144000" y="1783080"/>
            <a:ext cx="2194560" cy="502920"/>
          </a:xfrm>
          <a:prstGeom prst="rect">
            <a:avLst/>
          </a:prstGeom>
          <a:noFill/>
        </p:spPr>
        <p:txBody>
          <a:bodyPr wrap="square">
            <a:spAutoFit/>
          </a:bodyPr>
          <a:lstStyle/>
          <a:p>
            <a:pPr algn="l">
              <a:defRPr sz="2400" b="1">
                <a:solidFill>
                  <a:srgbClr val="12233A"/>
                </a:solidFill>
                <a:latin typeface="Aptos"/>
              </a:defRPr>
            </a:pPr>
            <a:r>
              <a:t>2024–2025</a:t>
            </a:r>
          </a:p>
        </p:txBody>
      </p:sp>
      <p:sp>
        <p:nvSpPr>
          <p:cNvPr id="26" name="TextBox 25"/>
          <p:cNvSpPr txBox="1"/>
          <p:nvPr/>
        </p:nvSpPr>
        <p:spPr>
          <a:xfrm>
            <a:off x="9144000" y="2340863"/>
            <a:ext cx="2194560" cy="320040"/>
          </a:xfrm>
          <a:prstGeom prst="rect">
            <a:avLst/>
          </a:prstGeom>
          <a:noFill/>
        </p:spPr>
        <p:txBody>
          <a:bodyPr wrap="square">
            <a:spAutoFit/>
          </a:bodyPr>
          <a:lstStyle/>
          <a:p>
            <a:pPr algn="l">
              <a:defRPr sz="1000" b="0">
                <a:solidFill>
                  <a:srgbClr val="677280"/>
                </a:solidFill>
                <a:latin typeface="Aptos"/>
              </a:defRPr>
            </a:pPr>
            <a:r>
              <a:t>Order-date analysis</a:t>
            </a:r>
          </a:p>
        </p:txBody>
      </p:sp>
      <p:sp>
        <p:nvSpPr>
          <p:cNvPr id="27" name="Rounded Rectangle 26"/>
          <p:cNvSpPr/>
          <p:nvPr/>
        </p:nvSpPr>
        <p:spPr>
          <a:xfrm>
            <a:off x="685800" y="3154680"/>
            <a:ext cx="10789920" cy="224028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0120" y="3429000"/>
            <a:ext cx="2286000" cy="320040"/>
          </a:xfrm>
          <a:prstGeom prst="rect">
            <a:avLst/>
          </a:prstGeom>
          <a:noFill/>
        </p:spPr>
        <p:txBody>
          <a:bodyPr wrap="square">
            <a:spAutoFit/>
          </a:bodyPr>
          <a:lstStyle/>
          <a:p>
            <a:pPr algn="l">
              <a:defRPr sz="1500" b="1">
                <a:solidFill>
                  <a:srgbClr val="12233A"/>
                </a:solidFill>
                <a:latin typeface="Aptos"/>
              </a:defRPr>
            </a:pPr>
            <a:r>
              <a:t>Key Data Areas</a:t>
            </a:r>
          </a:p>
        </p:txBody>
      </p:sp>
      <p:sp>
        <p:nvSpPr>
          <p:cNvPr id="29" name="TextBox 28"/>
          <p:cNvSpPr txBox="1"/>
          <p:nvPr/>
        </p:nvSpPr>
        <p:spPr>
          <a:xfrm>
            <a:off x="960120" y="3840480"/>
            <a:ext cx="4663440" cy="1325880"/>
          </a:xfrm>
          <a:prstGeom prst="rect">
            <a:avLst/>
          </a:prstGeom>
          <a:noFill/>
        </p:spPr>
        <p:txBody>
          <a:bodyPr wrap="square">
            <a:spAutoFit/>
          </a:bodyPr>
          <a:lstStyle/>
          <a:p>
            <a:pPr>
              <a:spcAft>
                <a:spcPts val="1200"/>
              </a:spcAft>
              <a:defRPr sz="1400">
                <a:solidFill>
                  <a:srgbClr val="28303C"/>
                </a:solidFill>
                <a:latin typeface="Aptos"/>
              </a:defRPr>
            </a:pPr>
            <a:r>
              <a:t>Order &amp; customer information</a:t>
            </a:r>
          </a:p>
          <a:p>
            <a:pPr>
              <a:spcAft>
                <a:spcPts val="1200"/>
              </a:spcAft>
              <a:defRPr sz="1400">
                <a:solidFill>
                  <a:srgbClr val="28303C"/>
                </a:solidFill>
                <a:latin typeface="Aptos"/>
              </a:defRPr>
            </a:pPr>
            <a:r>
              <a:t>Product, category and brand information</a:t>
            </a:r>
          </a:p>
          <a:p>
            <a:pPr>
              <a:spcAft>
                <a:spcPts val="1200"/>
              </a:spcAft>
              <a:defRPr sz="1400">
                <a:solidFill>
                  <a:srgbClr val="28303C"/>
                </a:solidFill>
                <a:latin typeface="Aptos"/>
              </a:defRPr>
            </a:pPr>
            <a:r>
              <a:t>Sales, profit, quantity and discount</a:t>
            </a:r>
          </a:p>
          <a:p>
            <a:pPr>
              <a:spcAft>
                <a:spcPts val="1200"/>
              </a:spcAft>
              <a:defRPr sz="1400">
                <a:solidFill>
                  <a:srgbClr val="28303C"/>
                </a:solidFill>
                <a:latin typeface="Aptos"/>
              </a:defRPr>
            </a:pPr>
            <a:r>
              <a:t>Region, city and customer segment</a:t>
            </a:r>
          </a:p>
          <a:p>
            <a:pPr>
              <a:spcAft>
                <a:spcPts val="1200"/>
              </a:spcAft>
              <a:defRPr sz="1400">
                <a:solidFill>
                  <a:srgbClr val="28303C"/>
                </a:solidFill>
                <a:latin typeface="Aptos"/>
              </a:defRPr>
            </a:pPr>
            <a:r>
              <a:t>Payment, shipping and order-status information</a:t>
            </a:r>
          </a:p>
        </p:txBody>
      </p:sp>
      <p:sp>
        <p:nvSpPr>
          <p:cNvPr id="30" name="TextBox 29"/>
          <p:cNvSpPr txBox="1"/>
          <p:nvPr/>
        </p:nvSpPr>
        <p:spPr>
          <a:xfrm>
            <a:off x="5715000" y="3840480"/>
            <a:ext cx="5120640" cy="1325880"/>
          </a:xfrm>
          <a:prstGeom prst="rect">
            <a:avLst/>
          </a:prstGeom>
          <a:noFill/>
        </p:spPr>
        <p:txBody>
          <a:bodyPr wrap="square">
            <a:spAutoFit/>
          </a:bodyPr>
          <a:lstStyle/>
          <a:p>
            <a:pPr>
              <a:spcAft>
                <a:spcPts val="1200"/>
              </a:spcAft>
              <a:defRPr sz="1400">
                <a:solidFill>
                  <a:srgbClr val="28303C"/>
                </a:solidFill>
                <a:latin typeface="Aptos"/>
              </a:defRPr>
            </a:pPr>
            <a:r>
              <a:t>These fields support KPI calculations, Pivot Tables, trend analysis and interactive dashboard reporting.</a:t>
            </a:r>
          </a:p>
          <a:p>
            <a:pPr>
              <a:spcAft>
                <a:spcPts val="1200"/>
              </a:spcAft>
              <a:defRPr sz="1400">
                <a:solidFill>
                  <a:srgbClr val="28303C"/>
                </a:solidFill>
                <a:latin typeface="Aptos"/>
              </a:defRPr>
            </a:pPr>
            <a:r>
              <a:t>The dataset is large enough to demonstrate practical Excel analytics skills.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solidFill>
              <a:srgbClr val="F4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789920" cy="502920"/>
          </a:xfrm>
          <a:prstGeom prst="rect">
            <a:avLst/>
          </a:prstGeom>
          <a:noFill/>
        </p:spPr>
        <p:txBody>
          <a:bodyPr wrap="square">
            <a:spAutoFit/>
          </a:bodyPr>
          <a:lstStyle/>
          <a:p>
            <a:pPr algn="l">
              <a:defRPr sz="2800" b="1">
                <a:solidFill>
                  <a:srgbClr val="12233A"/>
                </a:solidFill>
                <a:latin typeface="Aptos"/>
              </a:defRPr>
            </a:pPr>
            <a:r>
              <a:t>Data Preparation &amp; Excel Calculations</a:t>
            </a:r>
          </a:p>
        </p:txBody>
      </p:sp>
      <p:sp>
        <p:nvSpPr>
          <p:cNvPr id="5" name="TextBox 4"/>
          <p:cNvSpPr txBox="1"/>
          <p:nvPr/>
        </p:nvSpPr>
        <p:spPr>
          <a:xfrm>
            <a:off x="9875520" y="438912"/>
            <a:ext cx="1645920" cy="274320"/>
          </a:xfrm>
          <a:prstGeom prst="rect">
            <a:avLst/>
          </a:prstGeom>
          <a:noFill/>
        </p:spPr>
        <p:txBody>
          <a:bodyPr wrap="square">
            <a:spAutoFit/>
          </a:bodyPr>
          <a:lstStyle/>
          <a:p>
            <a:pPr algn="r">
              <a:defRPr sz="1000" b="1">
                <a:solidFill>
                  <a:srgbClr val="26A69A"/>
                </a:solidFill>
                <a:latin typeface="Aptos"/>
              </a:defRPr>
            </a:pPr>
            <a:r>
              <a:t>04 • METHODOLOGY</a:t>
            </a:r>
          </a:p>
        </p:txBody>
      </p:sp>
      <p:sp>
        <p:nvSpPr>
          <p:cNvPr id="6" name="TextBox 5"/>
          <p:cNvSpPr txBox="1"/>
          <p:nvPr/>
        </p:nvSpPr>
        <p:spPr>
          <a:xfrm>
            <a:off x="11201400" y="6446520"/>
            <a:ext cx="411480" cy="228600"/>
          </a:xfrm>
          <a:prstGeom prst="rect">
            <a:avLst/>
          </a:prstGeom>
          <a:noFill/>
        </p:spPr>
        <p:txBody>
          <a:bodyPr wrap="square">
            <a:spAutoFit/>
          </a:bodyPr>
          <a:lstStyle/>
          <a:p>
            <a:pPr algn="r">
              <a:defRPr sz="1000" b="0">
                <a:solidFill>
                  <a:srgbClr val="677280"/>
                </a:solidFill>
                <a:latin typeface="Aptos"/>
              </a:defRPr>
            </a:pPr>
            <a:r>
              <a:t>05</a:t>
            </a:r>
          </a:p>
        </p:txBody>
      </p:sp>
      <p:sp>
        <p:nvSpPr>
          <p:cNvPr id="7" name="Rounded Rectangle 6"/>
          <p:cNvSpPr/>
          <p:nvPr/>
        </p:nvSpPr>
        <p:spPr>
          <a:xfrm>
            <a:off x="777240" y="1234440"/>
            <a:ext cx="914400" cy="594360"/>
          </a:xfrm>
          <a:prstGeom prst="round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399032"/>
            <a:ext cx="914400" cy="228600"/>
          </a:xfrm>
          <a:prstGeom prst="rect">
            <a:avLst/>
          </a:prstGeom>
          <a:noFill/>
        </p:spPr>
        <p:txBody>
          <a:bodyPr wrap="square">
            <a:spAutoFit/>
          </a:bodyPr>
          <a:lstStyle/>
          <a:p>
            <a:pPr algn="ctr">
              <a:defRPr sz="1200" b="1">
                <a:solidFill>
                  <a:srgbClr val="FFFFFF"/>
                </a:solidFill>
                <a:latin typeface="Aptos"/>
              </a:defRPr>
            </a:pPr>
            <a:r>
              <a:t>01</a:t>
            </a:r>
          </a:p>
        </p:txBody>
      </p:sp>
      <p:sp>
        <p:nvSpPr>
          <p:cNvPr id="9" name="TextBox 8"/>
          <p:cNvSpPr txBox="1"/>
          <p:nvPr/>
        </p:nvSpPr>
        <p:spPr>
          <a:xfrm>
            <a:off x="1920240" y="1307592"/>
            <a:ext cx="1828800" cy="274320"/>
          </a:xfrm>
          <a:prstGeom prst="rect">
            <a:avLst/>
          </a:prstGeom>
          <a:noFill/>
        </p:spPr>
        <p:txBody>
          <a:bodyPr wrap="square">
            <a:spAutoFit/>
          </a:bodyPr>
          <a:lstStyle/>
          <a:p>
            <a:pPr algn="l">
              <a:defRPr sz="1600" b="1">
                <a:solidFill>
                  <a:srgbClr val="12233A"/>
                </a:solidFill>
                <a:latin typeface="Aptos"/>
              </a:defRPr>
            </a:pPr>
            <a:r>
              <a:t>Validate</a:t>
            </a:r>
          </a:p>
        </p:txBody>
      </p:sp>
      <p:sp>
        <p:nvSpPr>
          <p:cNvPr id="10" name="TextBox 9"/>
          <p:cNvSpPr txBox="1"/>
          <p:nvPr/>
        </p:nvSpPr>
        <p:spPr>
          <a:xfrm>
            <a:off x="3703320" y="1307592"/>
            <a:ext cx="7498079" cy="457200"/>
          </a:xfrm>
          <a:prstGeom prst="rect">
            <a:avLst/>
          </a:prstGeom>
          <a:noFill/>
        </p:spPr>
        <p:txBody>
          <a:bodyPr wrap="square">
            <a:spAutoFit/>
          </a:bodyPr>
          <a:lstStyle/>
          <a:p>
            <a:pPr algn="l">
              <a:defRPr sz="1400" b="0">
                <a:solidFill>
                  <a:srgbClr val="28303C"/>
                </a:solidFill>
                <a:latin typeface="Aptos"/>
              </a:defRPr>
            </a:pPr>
            <a:r>
              <a:t>Check dates, numeric fields and data consistency.</a:t>
            </a:r>
          </a:p>
        </p:txBody>
      </p:sp>
      <p:sp>
        <p:nvSpPr>
          <p:cNvPr id="11" name="Rounded Rectangle 10"/>
          <p:cNvSpPr/>
          <p:nvPr/>
        </p:nvSpPr>
        <p:spPr>
          <a:xfrm>
            <a:off x="777240" y="2148840"/>
            <a:ext cx="914400" cy="594360"/>
          </a:xfrm>
          <a:prstGeom prst="round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313432"/>
            <a:ext cx="914400" cy="228600"/>
          </a:xfrm>
          <a:prstGeom prst="rect">
            <a:avLst/>
          </a:prstGeom>
          <a:noFill/>
        </p:spPr>
        <p:txBody>
          <a:bodyPr wrap="square">
            <a:spAutoFit/>
          </a:bodyPr>
          <a:lstStyle/>
          <a:p>
            <a:pPr algn="ctr">
              <a:defRPr sz="1200" b="1">
                <a:solidFill>
                  <a:srgbClr val="FFFFFF"/>
                </a:solidFill>
                <a:latin typeface="Aptos"/>
              </a:defRPr>
            </a:pPr>
            <a:r>
              <a:t>02</a:t>
            </a:r>
          </a:p>
        </p:txBody>
      </p:sp>
      <p:sp>
        <p:nvSpPr>
          <p:cNvPr id="13" name="TextBox 12"/>
          <p:cNvSpPr txBox="1"/>
          <p:nvPr/>
        </p:nvSpPr>
        <p:spPr>
          <a:xfrm>
            <a:off x="1920240" y="2221992"/>
            <a:ext cx="1828800" cy="274320"/>
          </a:xfrm>
          <a:prstGeom prst="rect">
            <a:avLst/>
          </a:prstGeom>
          <a:noFill/>
        </p:spPr>
        <p:txBody>
          <a:bodyPr wrap="square">
            <a:spAutoFit/>
          </a:bodyPr>
          <a:lstStyle/>
          <a:p>
            <a:pPr algn="l">
              <a:defRPr sz="1600" b="1">
                <a:solidFill>
                  <a:srgbClr val="12233A"/>
                </a:solidFill>
                <a:latin typeface="Aptos"/>
              </a:defRPr>
            </a:pPr>
            <a:r>
              <a:t>Clean</a:t>
            </a:r>
          </a:p>
        </p:txBody>
      </p:sp>
      <p:sp>
        <p:nvSpPr>
          <p:cNvPr id="14" name="TextBox 13"/>
          <p:cNvSpPr txBox="1"/>
          <p:nvPr/>
        </p:nvSpPr>
        <p:spPr>
          <a:xfrm>
            <a:off x="3703320" y="2221992"/>
            <a:ext cx="7498079" cy="457200"/>
          </a:xfrm>
          <a:prstGeom prst="rect">
            <a:avLst/>
          </a:prstGeom>
          <a:noFill/>
        </p:spPr>
        <p:txBody>
          <a:bodyPr wrap="square">
            <a:spAutoFit/>
          </a:bodyPr>
          <a:lstStyle/>
          <a:p>
            <a:pPr algn="l">
              <a:defRPr sz="1400" b="0">
                <a:solidFill>
                  <a:srgbClr val="28303C"/>
                </a:solidFill>
                <a:latin typeface="Aptos"/>
              </a:defRPr>
            </a:pPr>
            <a:r>
              <a:t>Handle missing/duplicate/inconsistent records.</a:t>
            </a:r>
          </a:p>
        </p:txBody>
      </p:sp>
      <p:sp>
        <p:nvSpPr>
          <p:cNvPr id="15" name="Rounded Rectangle 14"/>
          <p:cNvSpPr/>
          <p:nvPr/>
        </p:nvSpPr>
        <p:spPr>
          <a:xfrm>
            <a:off x="777240" y="3063240"/>
            <a:ext cx="914400" cy="594360"/>
          </a:xfrm>
          <a:prstGeom prst="round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227832"/>
            <a:ext cx="914400" cy="228600"/>
          </a:xfrm>
          <a:prstGeom prst="rect">
            <a:avLst/>
          </a:prstGeom>
          <a:noFill/>
        </p:spPr>
        <p:txBody>
          <a:bodyPr wrap="square">
            <a:spAutoFit/>
          </a:bodyPr>
          <a:lstStyle/>
          <a:p>
            <a:pPr algn="ctr">
              <a:defRPr sz="1200" b="1">
                <a:solidFill>
                  <a:srgbClr val="FFFFFF"/>
                </a:solidFill>
                <a:latin typeface="Aptos"/>
              </a:defRPr>
            </a:pPr>
            <a:r>
              <a:t>03</a:t>
            </a:r>
          </a:p>
        </p:txBody>
      </p:sp>
      <p:sp>
        <p:nvSpPr>
          <p:cNvPr id="17" name="TextBox 16"/>
          <p:cNvSpPr txBox="1"/>
          <p:nvPr/>
        </p:nvSpPr>
        <p:spPr>
          <a:xfrm>
            <a:off x="1920240" y="3136392"/>
            <a:ext cx="1828800" cy="274320"/>
          </a:xfrm>
          <a:prstGeom prst="rect">
            <a:avLst/>
          </a:prstGeom>
          <a:noFill/>
        </p:spPr>
        <p:txBody>
          <a:bodyPr wrap="square">
            <a:spAutoFit/>
          </a:bodyPr>
          <a:lstStyle/>
          <a:p>
            <a:pPr algn="l">
              <a:defRPr sz="1600" b="1">
                <a:solidFill>
                  <a:srgbClr val="12233A"/>
                </a:solidFill>
                <a:latin typeface="Aptos"/>
              </a:defRPr>
            </a:pPr>
            <a:r>
              <a:t>Calculate</a:t>
            </a:r>
          </a:p>
        </p:txBody>
      </p:sp>
      <p:sp>
        <p:nvSpPr>
          <p:cNvPr id="18" name="TextBox 17"/>
          <p:cNvSpPr txBox="1"/>
          <p:nvPr/>
        </p:nvSpPr>
        <p:spPr>
          <a:xfrm>
            <a:off x="3703320" y="3136392"/>
            <a:ext cx="7498079" cy="457200"/>
          </a:xfrm>
          <a:prstGeom prst="rect">
            <a:avLst/>
          </a:prstGeom>
          <a:noFill/>
        </p:spPr>
        <p:txBody>
          <a:bodyPr wrap="square">
            <a:spAutoFit/>
          </a:bodyPr>
          <a:lstStyle/>
          <a:p>
            <a:pPr algn="l">
              <a:defRPr sz="1400" b="0">
                <a:solidFill>
                  <a:srgbClr val="28303C"/>
                </a:solidFill>
                <a:latin typeface="Aptos"/>
              </a:defRPr>
            </a:pPr>
            <a:r>
              <a:t>Profit Margin, Average Order Value and time fields.</a:t>
            </a:r>
          </a:p>
        </p:txBody>
      </p:sp>
      <p:sp>
        <p:nvSpPr>
          <p:cNvPr id="19" name="Rounded Rectangle 18"/>
          <p:cNvSpPr/>
          <p:nvPr/>
        </p:nvSpPr>
        <p:spPr>
          <a:xfrm>
            <a:off x="777240" y="3977639"/>
            <a:ext cx="914400" cy="594360"/>
          </a:xfrm>
          <a:prstGeom prst="round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4142231"/>
            <a:ext cx="914400" cy="228600"/>
          </a:xfrm>
          <a:prstGeom prst="rect">
            <a:avLst/>
          </a:prstGeom>
          <a:noFill/>
        </p:spPr>
        <p:txBody>
          <a:bodyPr wrap="square">
            <a:spAutoFit/>
          </a:bodyPr>
          <a:lstStyle/>
          <a:p>
            <a:pPr algn="ctr">
              <a:defRPr sz="1200" b="1">
                <a:solidFill>
                  <a:srgbClr val="FFFFFF"/>
                </a:solidFill>
                <a:latin typeface="Aptos"/>
              </a:defRPr>
            </a:pPr>
            <a:r>
              <a:t>04</a:t>
            </a:r>
          </a:p>
        </p:txBody>
      </p:sp>
      <p:sp>
        <p:nvSpPr>
          <p:cNvPr id="21" name="TextBox 20"/>
          <p:cNvSpPr txBox="1"/>
          <p:nvPr/>
        </p:nvSpPr>
        <p:spPr>
          <a:xfrm>
            <a:off x="1920240" y="4050791"/>
            <a:ext cx="1828800" cy="274320"/>
          </a:xfrm>
          <a:prstGeom prst="rect">
            <a:avLst/>
          </a:prstGeom>
          <a:noFill/>
        </p:spPr>
        <p:txBody>
          <a:bodyPr wrap="square">
            <a:spAutoFit/>
          </a:bodyPr>
          <a:lstStyle/>
          <a:p>
            <a:pPr algn="l">
              <a:defRPr sz="1600" b="1">
                <a:solidFill>
                  <a:srgbClr val="12233A"/>
                </a:solidFill>
                <a:latin typeface="Aptos"/>
              </a:defRPr>
            </a:pPr>
            <a:r>
              <a:t>Summarize</a:t>
            </a:r>
          </a:p>
        </p:txBody>
      </p:sp>
      <p:sp>
        <p:nvSpPr>
          <p:cNvPr id="22" name="TextBox 21"/>
          <p:cNvSpPr txBox="1"/>
          <p:nvPr/>
        </p:nvSpPr>
        <p:spPr>
          <a:xfrm>
            <a:off x="3703320" y="4050791"/>
            <a:ext cx="7498079" cy="457200"/>
          </a:xfrm>
          <a:prstGeom prst="rect">
            <a:avLst/>
          </a:prstGeom>
          <a:noFill/>
        </p:spPr>
        <p:txBody>
          <a:bodyPr wrap="square">
            <a:spAutoFit/>
          </a:bodyPr>
          <a:lstStyle/>
          <a:p>
            <a:pPr algn="l">
              <a:defRPr sz="1400" b="0">
                <a:solidFill>
                  <a:srgbClr val="28303C"/>
                </a:solidFill>
                <a:latin typeface="Aptos"/>
              </a:defRPr>
            </a:pPr>
            <a:r>
              <a:t>Build Pivot Tables for business questions.</a:t>
            </a:r>
          </a:p>
        </p:txBody>
      </p:sp>
      <p:sp>
        <p:nvSpPr>
          <p:cNvPr id="23" name="Rounded Rectangle 22"/>
          <p:cNvSpPr/>
          <p:nvPr/>
        </p:nvSpPr>
        <p:spPr>
          <a:xfrm>
            <a:off x="777240" y="4892040"/>
            <a:ext cx="914400" cy="594360"/>
          </a:xfrm>
          <a:prstGeom prst="round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5056631"/>
            <a:ext cx="914400" cy="228600"/>
          </a:xfrm>
          <a:prstGeom prst="rect">
            <a:avLst/>
          </a:prstGeom>
          <a:noFill/>
        </p:spPr>
        <p:txBody>
          <a:bodyPr wrap="square">
            <a:spAutoFit/>
          </a:bodyPr>
          <a:lstStyle/>
          <a:p>
            <a:pPr algn="ctr">
              <a:defRPr sz="1200" b="1">
                <a:solidFill>
                  <a:srgbClr val="FFFFFF"/>
                </a:solidFill>
                <a:latin typeface="Aptos"/>
              </a:defRPr>
            </a:pPr>
            <a:r>
              <a:t>05</a:t>
            </a:r>
          </a:p>
        </p:txBody>
      </p:sp>
      <p:sp>
        <p:nvSpPr>
          <p:cNvPr id="25" name="TextBox 24"/>
          <p:cNvSpPr txBox="1"/>
          <p:nvPr/>
        </p:nvSpPr>
        <p:spPr>
          <a:xfrm>
            <a:off x="1920240" y="4965192"/>
            <a:ext cx="1828800" cy="274320"/>
          </a:xfrm>
          <a:prstGeom prst="rect">
            <a:avLst/>
          </a:prstGeom>
          <a:noFill/>
        </p:spPr>
        <p:txBody>
          <a:bodyPr wrap="square">
            <a:spAutoFit/>
          </a:bodyPr>
          <a:lstStyle/>
          <a:p>
            <a:pPr algn="l">
              <a:defRPr sz="1600" b="1">
                <a:solidFill>
                  <a:srgbClr val="12233A"/>
                </a:solidFill>
                <a:latin typeface="Aptos"/>
              </a:defRPr>
            </a:pPr>
            <a:r>
              <a:t>Visualize</a:t>
            </a:r>
          </a:p>
        </p:txBody>
      </p:sp>
      <p:sp>
        <p:nvSpPr>
          <p:cNvPr id="26" name="TextBox 25"/>
          <p:cNvSpPr txBox="1"/>
          <p:nvPr/>
        </p:nvSpPr>
        <p:spPr>
          <a:xfrm>
            <a:off x="3703320" y="4965192"/>
            <a:ext cx="7498079" cy="457200"/>
          </a:xfrm>
          <a:prstGeom prst="rect">
            <a:avLst/>
          </a:prstGeom>
          <a:noFill/>
        </p:spPr>
        <p:txBody>
          <a:bodyPr wrap="square">
            <a:spAutoFit/>
          </a:bodyPr>
          <a:lstStyle/>
          <a:p>
            <a:pPr algn="l">
              <a:defRPr sz="1400" b="0">
                <a:solidFill>
                  <a:srgbClr val="28303C"/>
                </a:solidFill>
                <a:latin typeface="Aptos"/>
              </a:defRPr>
            </a:pPr>
            <a:r>
              <a:t>Create charts, KPIs and dashboard interactions.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solidFill>
              <a:srgbClr val="F4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789920" cy="502920"/>
          </a:xfrm>
          <a:prstGeom prst="rect">
            <a:avLst/>
          </a:prstGeom>
          <a:noFill/>
        </p:spPr>
        <p:txBody>
          <a:bodyPr wrap="square">
            <a:spAutoFit/>
          </a:bodyPr>
          <a:lstStyle/>
          <a:p>
            <a:pPr algn="l">
              <a:defRPr sz="2800" b="1">
                <a:solidFill>
                  <a:srgbClr val="12233A"/>
                </a:solidFill>
                <a:latin typeface="Aptos"/>
              </a:defRPr>
            </a:pPr>
            <a:r>
              <a:t>Key Performance Indicators</a:t>
            </a:r>
          </a:p>
        </p:txBody>
      </p:sp>
      <p:sp>
        <p:nvSpPr>
          <p:cNvPr id="5" name="TextBox 4"/>
          <p:cNvSpPr txBox="1"/>
          <p:nvPr/>
        </p:nvSpPr>
        <p:spPr>
          <a:xfrm>
            <a:off x="9875520" y="438912"/>
            <a:ext cx="1645920" cy="274320"/>
          </a:xfrm>
          <a:prstGeom prst="rect">
            <a:avLst/>
          </a:prstGeom>
          <a:noFill/>
        </p:spPr>
        <p:txBody>
          <a:bodyPr wrap="square">
            <a:spAutoFit/>
          </a:bodyPr>
          <a:lstStyle/>
          <a:p>
            <a:pPr algn="r">
              <a:defRPr sz="1000" b="1">
                <a:solidFill>
                  <a:srgbClr val="26A69A"/>
                </a:solidFill>
                <a:latin typeface="Aptos"/>
              </a:defRPr>
            </a:pPr>
            <a:r>
              <a:t>05 • KPI SNAPSHOT</a:t>
            </a:r>
          </a:p>
        </p:txBody>
      </p:sp>
      <p:sp>
        <p:nvSpPr>
          <p:cNvPr id="6" name="TextBox 5"/>
          <p:cNvSpPr txBox="1"/>
          <p:nvPr/>
        </p:nvSpPr>
        <p:spPr>
          <a:xfrm>
            <a:off x="11201400" y="6446520"/>
            <a:ext cx="411480" cy="228600"/>
          </a:xfrm>
          <a:prstGeom prst="rect">
            <a:avLst/>
          </a:prstGeom>
          <a:noFill/>
        </p:spPr>
        <p:txBody>
          <a:bodyPr wrap="square">
            <a:spAutoFit/>
          </a:bodyPr>
          <a:lstStyle/>
          <a:p>
            <a:pPr algn="r">
              <a:defRPr sz="1000" b="0">
                <a:solidFill>
                  <a:srgbClr val="677280"/>
                </a:solidFill>
                <a:latin typeface="Aptos"/>
              </a:defRPr>
            </a:pPr>
            <a:r>
              <a:t>06</a:t>
            </a:r>
          </a:p>
        </p:txBody>
      </p:sp>
      <p:sp>
        <p:nvSpPr>
          <p:cNvPr id="7" name="Rounded Rectangle 6"/>
          <p:cNvSpPr/>
          <p:nvPr/>
        </p:nvSpPr>
        <p:spPr>
          <a:xfrm>
            <a:off x="685800" y="1234440"/>
            <a:ext cx="3429000" cy="16002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234440"/>
            <a:ext cx="73152" cy="1600200"/>
          </a:xfrm>
          <a:prstGeom prst="rect">
            <a:avLst/>
          </a:prstGeom>
          <a:solidFill>
            <a:srgbClr val="2B6CB0"/>
          </a:solidFill>
          <a:ln>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399032"/>
            <a:ext cx="3063240" cy="274320"/>
          </a:xfrm>
          <a:prstGeom prst="rect">
            <a:avLst/>
          </a:prstGeom>
          <a:noFill/>
        </p:spPr>
        <p:txBody>
          <a:bodyPr wrap="square">
            <a:spAutoFit/>
          </a:bodyPr>
          <a:lstStyle/>
          <a:p>
            <a:pPr algn="l">
              <a:defRPr sz="1100" b="1">
                <a:solidFill>
                  <a:srgbClr val="677280"/>
                </a:solidFill>
                <a:latin typeface="Aptos"/>
              </a:defRPr>
            </a:pPr>
            <a:r>
              <a:t>TOTAL SALES</a:t>
            </a:r>
          </a:p>
        </p:txBody>
      </p:sp>
      <p:sp>
        <p:nvSpPr>
          <p:cNvPr id="10" name="TextBox 9"/>
          <p:cNvSpPr txBox="1"/>
          <p:nvPr/>
        </p:nvSpPr>
        <p:spPr>
          <a:xfrm>
            <a:off x="914400" y="1737360"/>
            <a:ext cx="3063240" cy="502920"/>
          </a:xfrm>
          <a:prstGeom prst="rect">
            <a:avLst/>
          </a:prstGeom>
          <a:noFill/>
        </p:spPr>
        <p:txBody>
          <a:bodyPr wrap="square">
            <a:spAutoFit/>
          </a:bodyPr>
          <a:lstStyle/>
          <a:p>
            <a:pPr algn="l">
              <a:defRPr sz="2400" b="1">
                <a:solidFill>
                  <a:srgbClr val="12233A"/>
                </a:solidFill>
                <a:latin typeface="Aptos"/>
              </a:defRPr>
            </a:pPr>
            <a:r>
              <a:t>₹152.58 Cr</a:t>
            </a:r>
          </a:p>
        </p:txBody>
      </p:sp>
      <p:sp>
        <p:nvSpPr>
          <p:cNvPr id="11" name="TextBox 10"/>
          <p:cNvSpPr txBox="1"/>
          <p:nvPr/>
        </p:nvSpPr>
        <p:spPr>
          <a:xfrm>
            <a:off x="914400" y="2295144"/>
            <a:ext cx="3063240" cy="320040"/>
          </a:xfrm>
          <a:prstGeom prst="rect">
            <a:avLst/>
          </a:prstGeom>
          <a:noFill/>
        </p:spPr>
        <p:txBody>
          <a:bodyPr wrap="square">
            <a:spAutoFit/>
          </a:bodyPr>
          <a:lstStyle/>
          <a:p>
            <a:pPr algn="l">
              <a:defRPr sz="1000" b="0">
                <a:solidFill>
                  <a:srgbClr val="677280"/>
                </a:solidFill>
                <a:latin typeface="Aptos"/>
              </a:defRPr>
            </a:pPr>
            <a:r>
              <a:t>Overall revenue</a:t>
            </a:r>
          </a:p>
        </p:txBody>
      </p:sp>
      <p:sp>
        <p:nvSpPr>
          <p:cNvPr id="12" name="Rounded Rectangle 11"/>
          <p:cNvSpPr/>
          <p:nvPr/>
        </p:nvSpPr>
        <p:spPr>
          <a:xfrm>
            <a:off x="4389120" y="1234440"/>
            <a:ext cx="3429000" cy="16002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1234440"/>
            <a:ext cx="73152" cy="1600200"/>
          </a:xfrm>
          <a:prstGeom prst="rect">
            <a:avLst/>
          </a:prstGeom>
          <a:solidFill>
            <a:srgbClr val="277D58"/>
          </a:solidFill>
          <a:ln>
            <a:solidFill>
              <a:srgbClr val="277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399032"/>
            <a:ext cx="3063240" cy="274320"/>
          </a:xfrm>
          <a:prstGeom prst="rect">
            <a:avLst/>
          </a:prstGeom>
          <a:noFill/>
        </p:spPr>
        <p:txBody>
          <a:bodyPr wrap="square">
            <a:spAutoFit/>
          </a:bodyPr>
          <a:lstStyle/>
          <a:p>
            <a:pPr algn="l">
              <a:defRPr sz="1100" b="1">
                <a:solidFill>
                  <a:srgbClr val="677280"/>
                </a:solidFill>
                <a:latin typeface="Aptos"/>
              </a:defRPr>
            </a:pPr>
            <a:r>
              <a:t>TOTAL PROFIT</a:t>
            </a:r>
          </a:p>
        </p:txBody>
      </p:sp>
      <p:sp>
        <p:nvSpPr>
          <p:cNvPr id="15" name="TextBox 14"/>
          <p:cNvSpPr txBox="1"/>
          <p:nvPr/>
        </p:nvSpPr>
        <p:spPr>
          <a:xfrm>
            <a:off x="4617720" y="1737360"/>
            <a:ext cx="3063240" cy="502920"/>
          </a:xfrm>
          <a:prstGeom prst="rect">
            <a:avLst/>
          </a:prstGeom>
          <a:noFill/>
        </p:spPr>
        <p:txBody>
          <a:bodyPr wrap="square">
            <a:spAutoFit/>
          </a:bodyPr>
          <a:lstStyle/>
          <a:p>
            <a:pPr algn="l">
              <a:defRPr sz="2400" b="1">
                <a:solidFill>
                  <a:srgbClr val="12233A"/>
                </a:solidFill>
                <a:latin typeface="Aptos"/>
              </a:defRPr>
            </a:pPr>
            <a:r>
              <a:t>₹30.52 Cr</a:t>
            </a:r>
          </a:p>
        </p:txBody>
      </p:sp>
      <p:sp>
        <p:nvSpPr>
          <p:cNvPr id="16" name="TextBox 15"/>
          <p:cNvSpPr txBox="1"/>
          <p:nvPr/>
        </p:nvSpPr>
        <p:spPr>
          <a:xfrm>
            <a:off x="4617720" y="2295144"/>
            <a:ext cx="3063240" cy="320040"/>
          </a:xfrm>
          <a:prstGeom prst="rect">
            <a:avLst/>
          </a:prstGeom>
          <a:noFill/>
        </p:spPr>
        <p:txBody>
          <a:bodyPr wrap="square">
            <a:spAutoFit/>
          </a:bodyPr>
          <a:lstStyle/>
          <a:p>
            <a:pPr algn="l">
              <a:defRPr sz="1000" b="0">
                <a:solidFill>
                  <a:srgbClr val="677280"/>
                </a:solidFill>
                <a:latin typeface="Aptos"/>
              </a:defRPr>
            </a:pPr>
            <a:r>
              <a:t>Overall profit</a:t>
            </a:r>
          </a:p>
        </p:txBody>
      </p:sp>
      <p:sp>
        <p:nvSpPr>
          <p:cNvPr id="17" name="Rounded Rectangle 16"/>
          <p:cNvSpPr/>
          <p:nvPr/>
        </p:nvSpPr>
        <p:spPr>
          <a:xfrm>
            <a:off x="8092440" y="1234440"/>
            <a:ext cx="3429000" cy="16002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92440" y="1234440"/>
            <a:ext cx="73152" cy="1600200"/>
          </a:xfrm>
          <a:prstGeom prst="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21040" y="1399032"/>
            <a:ext cx="3063240" cy="274320"/>
          </a:xfrm>
          <a:prstGeom prst="rect">
            <a:avLst/>
          </a:prstGeom>
          <a:noFill/>
        </p:spPr>
        <p:txBody>
          <a:bodyPr wrap="square">
            <a:spAutoFit/>
          </a:bodyPr>
          <a:lstStyle/>
          <a:p>
            <a:pPr algn="l">
              <a:defRPr sz="1100" b="1">
                <a:solidFill>
                  <a:srgbClr val="677280"/>
                </a:solidFill>
                <a:latin typeface="Aptos"/>
              </a:defRPr>
            </a:pPr>
            <a:r>
              <a:t>QUANTITY SOLD</a:t>
            </a:r>
          </a:p>
        </p:txBody>
      </p:sp>
      <p:sp>
        <p:nvSpPr>
          <p:cNvPr id="20" name="TextBox 19"/>
          <p:cNvSpPr txBox="1"/>
          <p:nvPr/>
        </p:nvSpPr>
        <p:spPr>
          <a:xfrm>
            <a:off x="8321040" y="1737360"/>
            <a:ext cx="3063240" cy="502920"/>
          </a:xfrm>
          <a:prstGeom prst="rect">
            <a:avLst/>
          </a:prstGeom>
          <a:noFill/>
        </p:spPr>
        <p:txBody>
          <a:bodyPr wrap="square">
            <a:spAutoFit/>
          </a:bodyPr>
          <a:lstStyle/>
          <a:p>
            <a:pPr algn="l">
              <a:defRPr sz="2400" b="1">
                <a:solidFill>
                  <a:srgbClr val="12233A"/>
                </a:solidFill>
                <a:latin typeface="Aptos"/>
              </a:defRPr>
            </a:pPr>
            <a:r>
              <a:t>45,058</a:t>
            </a:r>
          </a:p>
        </p:txBody>
      </p:sp>
      <p:sp>
        <p:nvSpPr>
          <p:cNvPr id="21" name="TextBox 20"/>
          <p:cNvSpPr txBox="1"/>
          <p:nvPr/>
        </p:nvSpPr>
        <p:spPr>
          <a:xfrm>
            <a:off x="8321040" y="2295144"/>
            <a:ext cx="3063240" cy="320040"/>
          </a:xfrm>
          <a:prstGeom prst="rect">
            <a:avLst/>
          </a:prstGeom>
          <a:noFill/>
        </p:spPr>
        <p:txBody>
          <a:bodyPr wrap="square">
            <a:spAutoFit/>
          </a:bodyPr>
          <a:lstStyle/>
          <a:p>
            <a:pPr algn="l">
              <a:defRPr sz="1000" b="0">
                <a:solidFill>
                  <a:srgbClr val="677280"/>
                </a:solidFill>
                <a:latin typeface="Aptos"/>
              </a:defRPr>
            </a:pPr>
            <a:r>
              <a:t>Units sold</a:t>
            </a:r>
          </a:p>
        </p:txBody>
      </p:sp>
      <p:sp>
        <p:nvSpPr>
          <p:cNvPr id="22" name="Rounded Rectangle 21"/>
          <p:cNvSpPr/>
          <p:nvPr/>
        </p:nvSpPr>
        <p:spPr>
          <a:xfrm>
            <a:off x="685800" y="3154680"/>
            <a:ext cx="3429000" cy="16002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85800" y="3154680"/>
            <a:ext cx="73152" cy="1600200"/>
          </a:xfrm>
          <a:prstGeom prst="rect">
            <a:avLst/>
          </a:prstGeom>
          <a:solidFill>
            <a:srgbClr val="E08533"/>
          </a:solidFill>
          <a:ln>
            <a:solidFill>
              <a:srgbClr val="E085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3319272"/>
            <a:ext cx="3063240" cy="274320"/>
          </a:xfrm>
          <a:prstGeom prst="rect">
            <a:avLst/>
          </a:prstGeom>
          <a:noFill/>
        </p:spPr>
        <p:txBody>
          <a:bodyPr wrap="square">
            <a:spAutoFit/>
          </a:bodyPr>
          <a:lstStyle/>
          <a:p>
            <a:pPr algn="l">
              <a:defRPr sz="1100" b="1">
                <a:solidFill>
                  <a:srgbClr val="677280"/>
                </a:solidFill>
                <a:latin typeface="Aptos"/>
              </a:defRPr>
            </a:pPr>
            <a:r>
              <a:t>AVG. ORDER VALUE</a:t>
            </a:r>
          </a:p>
        </p:txBody>
      </p:sp>
      <p:sp>
        <p:nvSpPr>
          <p:cNvPr id="25" name="TextBox 24"/>
          <p:cNvSpPr txBox="1"/>
          <p:nvPr/>
        </p:nvSpPr>
        <p:spPr>
          <a:xfrm>
            <a:off x="914400" y="3657600"/>
            <a:ext cx="3063240" cy="502920"/>
          </a:xfrm>
          <a:prstGeom prst="rect">
            <a:avLst/>
          </a:prstGeom>
          <a:noFill/>
        </p:spPr>
        <p:txBody>
          <a:bodyPr wrap="square">
            <a:spAutoFit/>
          </a:bodyPr>
          <a:lstStyle/>
          <a:p>
            <a:pPr algn="l">
              <a:defRPr sz="2400" b="1">
                <a:solidFill>
                  <a:srgbClr val="12233A"/>
                </a:solidFill>
                <a:latin typeface="Aptos"/>
              </a:defRPr>
            </a:pPr>
            <a:r>
              <a:t>~₹1.53 L</a:t>
            </a:r>
          </a:p>
        </p:txBody>
      </p:sp>
      <p:sp>
        <p:nvSpPr>
          <p:cNvPr id="26" name="TextBox 25"/>
          <p:cNvSpPr txBox="1"/>
          <p:nvPr/>
        </p:nvSpPr>
        <p:spPr>
          <a:xfrm>
            <a:off x="914400" y="4215384"/>
            <a:ext cx="3063240" cy="320040"/>
          </a:xfrm>
          <a:prstGeom prst="rect">
            <a:avLst/>
          </a:prstGeom>
          <a:noFill/>
        </p:spPr>
        <p:txBody>
          <a:bodyPr wrap="square">
            <a:spAutoFit/>
          </a:bodyPr>
          <a:lstStyle/>
          <a:p>
            <a:pPr algn="l">
              <a:defRPr sz="1000" b="0">
                <a:solidFill>
                  <a:srgbClr val="677280"/>
                </a:solidFill>
                <a:latin typeface="Aptos"/>
              </a:defRPr>
            </a:pPr>
            <a:r>
              <a:t>Average sales/order</a:t>
            </a:r>
          </a:p>
        </p:txBody>
      </p:sp>
      <p:sp>
        <p:nvSpPr>
          <p:cNvPr id="27" name="Rounded Rectangle 26"/>
          <p:cNvSpPr/>
          <p:nvPr/>
        </p:nvSpPr>
        <p:spPr>
          <a:xfrm>
            <a:off x="4389120" y="3154680"/>
            <a:ext cx="3429000" cy="16002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389120" y="3154680"/>
            <a:ext cx="73152" cy="1600200"/>
          </a:xfrm>
          <a:prstGeom prst="rect">
            <a:avLst/>
          </a:prstGeom>
          <a:solidFill>
            <a:srgbClr val="277D58"/>
          </a:solidFill>
          <a:ln>
            <a:solidFill>
              <a:srgbClr val="277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617720" y="3319272"/>
            <a:ext cx="3063240" cy="274320"/>
          </a:xfrm>
          <a:prstGeom prst="rect">
            <a:avLst/>
          </a:prstGeom>
          <a:noFill/>
        </p:spPr>
        <p:txBody>
          <a:bodyPr wrap="square">
            <a:spAutoFit/>
          </a:bodyPr>
          <a:lstStyle/>
          <a:p>
            <a:pPr algn="l">
              <a:defRPr sz="1100" b="1">
                <a:solidFill>
                  <a:srgbClr val="677280"/>
                </a:solidFill>
                <a:latin typeface="Aptos"/>
              </a:defRPr>
            </a:pPr>
            <a:r>
              <a:t>PROFIT MARGIN</a:t>
            </a:r>
          </a:p>
        </p:txBody>
      </p:sp>
      <p:sp>
        <p:nvSpPr>
          <p:cNvPr id="30" name="TextBox 29"/>
          <p:cNvSpPr txBox="1"/>
          <p:nvPr/>
        </p:nvSpPr>
        <p:spPr>
          <a:xfrm>
            <a:off x="4617720" y="3657600"/>
            <a:ext cx="3063240" cy="502920"/>
          </a:xfrm>
          <a:prstGeom prst="rect">
            <a:avLst/>
          </a:prstGeom>
          <a:noFill/>
        </p:spPr>
        <p:txBody>
          <a:bodyPr wrap="square">
            <a:spAutoFit/>
          </a:bodyPr>
          <a:lstStyle/>
          <a:p>
            <a:pPr algn="l">
              <a:defRPr sz="2400" b="1">
                <a:solidFill>
                  <a:srgbClr val="12233A"/>
                </a:solidFill>
                <a:latin typeface="Aptos"/>
              </a:defRPr>
            </a:pPr>
            <a:r>
              <a:t>~20%</a:t>
            </a:r>
          </a:p>
        </p:txBody>
      </p:sp>
      <p:sp>
        <p:nvSpPr>
          <p:cNvPr id="31" name="TextBox 30"/>
          <p:cNvSpPr txBox="1"/>
          <p:nvPr/>
        </p:nvSpPr>
        <p:spPr>
          <a:xfrm>
            <a:off x="4617720" y="4215384"/>
            <a:ext cx="3063240" cy="320040"/>
          </a:xfrm>
          <a:prstGeom prst="rect">
            <a:avLst/>
          </a:prstGeom>
          <a:noFill/>
        </p:spPr>
        <p:txBody>
          <a:bodyPr wrap="square">
            <a:spAutoFit/>
          </a:bodyPr>
          <a:lstStyle/>
          <a:p>
            <a:pPr algn="l">
              <a:defRPr sz="1000" b="0">
                <a:solidFill>
                  <a:srgbClr val="677280"/>
                </a:solidFill>
                <a:latin typeface="Aptos"/>
              </a:defRPr>
            </a:pPr>
            <a:r>
              <a:t>Profit ÷ Sales</a:t>
            </a:r>
          </a:p>
        </p:txBody>
      </p:sp>
      <p:sp>
        <p:nvSpPr>
          <p:cNvPr id="32" name="Rounded Rectangle 31"/>
          <p:cNvSpPr/>
          <p:nvPr/>
        </p:nvSpPr>
        <p:spPr>
          <a:xfrm>
            <a:off x="8092440" y="3154680"/>
            <a:ext cx="3429000" cy="16002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092440" y="3154680"/>
            <a:ext cx="73152" cy="1600200"/>
          </a:xfrm>
          <a:prstGeom prst="rect">
            <a:avLst/>
          </a:prstGeom>
          <a:solidFill>
            <a:srgbClr val="2B6CB0"/>
          </a:solidFill>
          <a:ln>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321040" y="3319272"/>
            <a:ext cx="3063240" cy="274320"/>
          </a:xfrm>
          <a:prstGeom prst="rect">
            <a:avLst/>
          </a:prstGeom>
          <a:noFill/>
        </p:spPr>
        <p:txBody>
          <a:bodyPr wrap="square">
            <a:spAutoFit/>
          </a:bodyPr>
          <a:lstStyle/>
          <a:p>
            <a:pPr algn="l">
              <a:defRPr sz="1100" b="1">
                <a:solidFill>
                  <a:srgbClr val="677280"/>
                </a:solidFill>
                <a:latin typeface="Aptos"/>
              </a:defRPr>
            </a:pPr>
            <a:r>
              <a:t>AVG. DELIVERY</a:t>
            </a:r>
          </a:p>
        </p:txBody>
      </p:sp>
      <p:sp>
        <p:nvSpPr>
          <p:cNvPr id="35" name="TextBox 34"/>
          <p:cNvSpPr txBox="1"/>
          <p:nvPr/>
        </p:nvSpPr>
        <p:spPr>
          <a:xfrm>
            <a:off x="8321040" y="3657600"/>
            <a:ext cx="3063240" cy="502920"/>
          </a:xfrm>
          <a:prstGeom prst="rect">
            <a:avLst/>
          </a:prstGeom>
          <a:noFill/>
        </p:spPr>
        <p:txBody>
          <a:bodyPr wrap="square">
            <a:spAutoFit/>
          </a:bodyPr>
          <a:lstStyle/>
          <a:p>
            <a:pPr algn="l">
              <a:defRPr sz="2400" b="1">
                <a:solidFill>
                  <a:srgbClr val="12233A"/>
                </a:solidFill>
                <a:latin typeface="Aptos"/>
              </a:defRPr>
            </a:pPr>
            <a:r>
              <a:t>~4 Days</a:t>
            </a:r>
          </a:p>
        </p:txBody>
      </p:sp>
      <p:sp>
        <p:nvSpPr>
          <p:cNvPr id="36" name="TextBox 35"/>
          <p:cNvSpPr txBox="1"/>
          <p:nvPr/>
        </p:nvSpPr>
        <p:spPr>
          <a:xfrm>
            <a:off x="8321040" y="4215384"/>
            <a:ext cx="3063240" cy="320040"/>
          </a:xfrm>
          <a:prstGeom prst="rect">
            <a:avLst/>
          </a:prstGeom>
          <a:noFill/>
        </p:spPr>
        <p:txBody>
          <a:bodyPr wrap="square">
            <a:spAutoFit/>
          </a:bodyPr>
          <a:lstStyle/>
          <a:p>
            <a:pPr algn="l">
              <a:defRPr sz="1000" b="0">
                <a:solidFill>
                  <a:srgbClr val="677280"/>
                </a:solidFill>
                <a:latin typeface="Aptos"/>
              </a:defRPr>
            </a:pPr>
            <a:r>
              <a:t>Delivery benchmark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solidFill>
              <a:srgbClr val="F4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789920" cy="502920"/>
          </a:xfrm>
          <a:prstGeom prst="rect">
            <a:avLst/>
          </a:prstGeom>
          <a:noFill/>
        </p:spPr>
        <p:txBody>
          <a:bodyPr wrap="square">
            <a:spAutoFit/>
          </a:bodyPr>
          <a:lstStyle/>
          <a:p>
            <a:pPr algn="l">
              <a:defRPr sz="2800" b="1">
                <a:solidFill>
                  <a:srgbClr val="12233A"/>
                </a:solidFill>
                <a:latin typeface="Aptos"/>
              </a:defRPr>
            </a:pPr>
            <a:r>
              <a:t>Sales &amp; Profit Insights</a:t>
            </a:r>
          </a:p>
        </p:txBody>
      </p:sp>
      <p:sp>
        <p:nvSpPr>
          <p:cNvPr id="5" name="TextBox 4"/>
          <p:cNvSpPr txBox="1"/>
          <p:nvPr/>
        </p:nvSpPr>
        <p:spPr>
          <a:xfrm>
            <a:off x="9875520" y="438912"/>
            <a:ext cx="1645920" cy="274320"/>
          </a:xfrm>
          <a:prstGeom prst="rect">
            <a:avLst/>
          </a:prstGeom>
          <a:noFill/>
        </p:spPr>
        <p:txBody>
          <a:bodyPr wrap="square">
            <a:spAutoFit/>
          </a:bodyPr>
          <a:lstStyle/>
          <a:p>
            <a:pPr algn="r">
              <a:defRPr sz="1000" b="1">
                <a:solidFill>
                  <a:srgbClr val="26A69A"/>
                </a:solidFill>
                <a:latin typeface="Aptos"/>
              </a:defRPr>
            </a:pPr>
            <a:r>
              <a:t>06 • FINDINGS</a:t>
            </a:r>
          </a:p>
        </p:txBody>
      </p:sp>
      <p:sp>
        <p:nvSpPr>
          <p:cNvPr id="6" name="TextBox 5"/>
          <p:cNvSpPr txBox="1"/>
          <p:nvPr/>
        </p:nvSpPr>
        <p:spPr>
          <a:xfrm>
            <a:off x="11201400" y="6446520"/>
            <a:ext cx="411480" cy="228600"/>
          </a:xfrm>
          <a:prstGeom prst="rect">
            <a:avLst/>
          </a:prstGeom>
          <a:noFill/>
        </p:spPr>
        <p:txBody>
          <a:bodyPr wrap="square">
            <a:spAutoFit/>
          </a:bodyPr>
          <a:lstStyle/>
          <a:p>
            <a:pPr algn="r">
              <a:defRPr sz="1000" b="0">
                <a:solidFill>
                  <a:srgbClr val="677280"/>
                </a:solidFill>
                <a:latin typeface="Aptos"/>
              </a:defRPr>
            </a:pPr>
            <a:r>
              <a:t>07</a:t>
            </a:r>
          </a:p>
        </p:txBody>
      </p:sp>
      <p:sp>
        <p:nvSpPr>
          <p:cNvPr id="7" name="Rounded Rectangle 6"/>
          <p:cNvSpPr/>
          <p:nvPr/>
        </p:nvSpPr>
        <p:spPr>
          <a:xfrm>
            <a:off x="685800" y="1234440"/>
            <a:ext cx="5212080" cy="448056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554480"/>
            <a:ext cx="2743200" cy="320040"/>
          </a:xfrm>
          <a:prstGeom prst="rect">
            <a:avLst/>
          </a:prstGeom>
          <a:noFill/>
        </p:spPr>
        <p:txBody>
          <a:bodyPr wrap="square">
            <a:spAutoFit/>
          </a:bodyPr>
          <a:lstStyle/>
          <a:p>
            <a:pPr algn="l">
              <a:defRPr sz="1700" b="1">
                <a:solidFill>
                  <a:srgbClr val="12233A"/>
                </a:solidFill>
                <a:latin typeface="Aptos"/>
              </a:defRPr>
            </a:pPr>
            <a:r>
              <a:t>Category Performance</a:t>
            </a:r>
          </a:p>
        </p:txBody>
      </p:sp>
      <p:sp>
        <p:nvSpPr>
          <p:cNvPr id="9" name="TextBox 8"/>
          <p:cNvSpPr txBox="1"/>
          <p:nvPr/>
        </p:nvSpPr>
        <p:spPr>
          <a:xfrm>
            <a:off x="960120" y="2057400"/>
            <a:ext cx="4480560" cy="2011680"/>
          </a:xfrm>
          <a:prstGeom prst="rect">
            <a:avLst/>
          </a:prstGeom>
          <a:noFill/>
        </p:spPr>
        <p:txBody>
          <a:bodyPr wrap="square">
            <a:spAutoFit/>
          </a:bodyPr>
          <a:lstStyle/>
          <a:p>
            <a:pPr>
              <a:spcAft>
                <a:spcPts val="1200"/>
              </a:spcAft>
              <a:defRPr sz="1500">
                <a:solidFill>
                  <a:srgbClr val="28303C"/>
                </a:solidFill>
                <a:latin typeface="Aptos"/>
              </a:defRPr>
            </a:pPr>
            <a:r>
              <a:t>Electronics is the highest-performing category by sales and profit.</a:t>
            </a:r>
          </a:p>
          <a:p>
            <a:pPr>
              <a:spcAft>
                <a:spcPts val="1200"/>
              </a:spcAft>
              <a:defRPr sz="1500">
                <a:solidFill>
                  <a:srgbClr val="28303C"/>
                </a:solidFill>
                <a:latin typeface="Aptos"/>
              </a:defRPr>
            </a:pPr>
            <a:r>
              <a:t>Furniture and Clothing also show strong performance and are close to Electronics.</a:t>
            </a:r>
          </a:p>
          <a:p>
            <a:pPr>
              <a:spcAft>
                <a:spcPts val="1200"/>
              </a:spcAft>
              <a:defRPr sz="1500">
                <a:solidFill>
                  <a:srgbClr val="28303C"/>
                </a:solidFill>
                <a:latin typeface="Aptos"/>
              </a:defRPr>
            </a:pPr>
            <a:r>
              <a:t>The three categories represent a balanced portfolio with relatively similar contribution.</a:t>
            </a:r>
          </a:p>
        </p:txBody>
      </p:sp>
      <p:sp>
        <p:nvSpPr>
          <p:cNvPr id="10" name="TextBox 9"/>
          <p:cNvSpPr txBox="1"/>
          <p:nvPr/>
        </p:nvSpPr>
        <p:spPr>
          <a:xfrm>
            <a:off x="960120" y="4434840"/>
            <a:ext cx="1097280" cy="274320"/>
          </a:xfrm>
          <a:prstGeom prst="rect">
            <a:avLst/>
          </a:prstGeom>
          <a:noFill/>
        </p:spPr>
        <p:txBody>
          <a:bodyPr wrap="square">
            <a:spAutoFit/>
          </a:bodyPr>
          <a:lstStyle/>
          <a:p>
            <a:pPr algn="l">
              <a:defRPr sz="1200" b="1">
                <a:solidFill>
                  <a:srgbClr val="26A69A"/>
                </a:solidFill>
                <a:latin typeface="Aptos"/>
              </a:defRPr>
            </a:pPr>
            <a:r>
              <a:t>Action</a:t>
            </a:r>
          </a:p>
        </p:txBody>
      </p:sp>
      <p:sp>
        <p:nvSpPr>
          <p:cNvPr id="11" name="TextBox 10"/>
          <p:cNvSpPr txBox="1"/>
          <p:nvPr/>
        </p:nvSpPr>
        <p:spPr>
          <a:xfrm>
            <a:off x="960120" y="4754880"/>
            <a:ext cx="4480560" cy="640080"/>
          </a:xfrm>
          <a:prstGeom prst="rect">
            <a:avLst/>
          </a:prstGeom>
          <a:noFill/>
        </p:spPr>
        <p:txBody>
          <a:bodyPr wrap="square">
            <a:spAutoFit/>
          </a:bodyPr>
          <a:lstStyle/>
          <a:p>
            <a:pPr algn="l">
              <a:defRPr sz="1400" b="1">
                <a:solidFill>
                  <a:srgbClr val="28303C"/>
                </a:solidFill>
                <a:latin typeface="Aptos"/>
              </a:defRPr>
            </a:pPr>
            <a:r>
              <a:t>Maintain Electronics inventory and marketing while monitoring margin performance across all categories.</a:t>
            </a:r>
          </a:p>
        </p:txBody>
      </p:sp>
      <p:sp>
        <p:nvSpPr>
          <p:cNvPr id="12" name="Rounded Rectangle 11"/>
          <p:cNvSpPr/>
          <p:nvPr/>
        </p:nvSpPr>
        <p:spPr>
          <a:xfrm>
            <a:off x="6126480" y="1234440"/>
            <a:ext cx="5349240" cy="448056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1554480"/>
            <a:ext cx="2743200" cy="320040"/>
          </a:xfrm>
          <a:prstGeom prst="rect">
            <a:avLst/>
          </a:prstGeom>
          <a:noFill/>
        </p:spPr>
        <p:txBody>
          <a:bodyPr wrap="square">
            <a:spAutoFit/>
          </a:bodyPr>
          <a:lstStyle/>
          <a:p>
            <a:pPr algn="l">
              <a:defRPr sz="1700" b="1">
                <a:solidFill>
                  <a:srgbClr val="12233A"/>
                </a:solidFill>
                <a:latin typeface="Aptos"/>
              </a:defRPr>
            </a:pPr>
            <a:r>
              <a:t>Regional Performance</a:t>
            </a:r>
          </a:p>
        </p:txBody>
      </p:sp>
      <p:sp>
        <p:nvSpPr>
          <p:cNvPr id="14" name="TextBox 13"/>
          <p:cNvSpPr txBox="1"/>
          <p:nvPr/>
        </p:nvSpPr>
        <p:spPr>
          <a:xfrm>
            <a:off x="6400800" y="2057400"/>
            <a:ext cx="4572000" cy="1828800"/>
          </a:xfrm>
          <a:prstGeom prst="rect">
            <a:avLst/>
          </a:prstGeom>
          <a:noFill/>
        </p:spPr>
        <p:txBody>
          <a:bodyPr wrap="square">
            <a:spAutoFit/>
          </a:bodyPr>
          <a:lstStyle/>
          <a:p>
            <a:pPr>
              <a:spcAft>
                <a:spcPts val="1200"/>
              </a:spcAft>
              <a:defRPr sz="1500">
                <a:solidFill>
                  <a:srgbClr val="28303C"/>
                </a:solidFill>
                <a:latin typeface="Aptos"/>
              </a:defRPr>
            </a:pPr>
            <a:r>
              <a:t>South is the strongest revenue-generating region.</a:t>
            </a:r>
          </a:p>
          <a:p>
            <a:pPr>
              <a:spcAft>
                <a:spcPts val="1200"/>
              </a:spcAft>
              <a:defRPr sz="1500">
                <a:solidFill>
                  <a:srgbClr val="28303C"/>
                </a:solidFill>
                <a:latin typeface="Aptos"/>
              </a:defRPr>
            </a:pPr>
            <a:r>
              <a:t>South contributes approximately 60% of total revenue.</a:t>
            </a:r>
          </a:p>
          <a:p>
            <a:pPr>
              <a:spcAft>
                <a:spcPts val="1200"/>
              </a:spcAft>
              <a:defRPr sz="1500">
                <a:solidFill>
                  <a:srgbClr val="28303C"/>
                </a:solidFill>
                <a:latin typeface="Aptos"/>
              </a:defRPr>
            </a:pPr>
            <a:r>
              <a:t>North and West provide opportunities for targeted growth.</a:t>
            </a:r>
          </a:p>
        </p:txBody>
      </p:sp>
      <p:sp>
        <p:nvSpPr>
          <p:cNvPr id="15" name="TextBox 14"/>
          <p:cNvSpPr txBox="1"/>
          <p:nvPr/>
        </p:nvSpPr>
        <p:spPr>
          <a:xfrm>
            <a:off x="6400800" y="4434840"/>
            <a:ext cx="1097280" cy="274320"/>
          </a:xfrm>
          <a:prstGeom prst="rect">
            <a:avLst/>
          </a:prstGeom>
          <a:noFill/>
        </p:spPr>
        <p:txBody>
          <a:bodyPr wrap="square">
            <a:spAutoFit/>
          </a:bodyPr>
          <a:lstStyle/>
          <a:p>
            <a:pPr algn="l">
              <a:defRPr sz="1200" b="1">
                <a:solidFill>
                  <a:srgbClr val="26A69A"/>
                </a:solidFill>
                <a:latin typeface="Aptos"/>
              </a:defRPr>
            </a:pPr>
            <a:r>
              <a:t>Action</a:t>
            </a:r>
          </a:p>
        </p:txBody>
      </p:sp>
      <p:sp>
        <p:nvSpPr>
          <p:cNvPr id="16" name="TextBox 15"/>
          <p:cNvSpPr txBox="1"/>
          <p:nvPr/>
        </p:nvSpPr>
        <p:spPr>
          <a:xfrm>
            <a:off x="6400800" y="4754880"/>
            <a:ext cx="4572000" cy="640080"/>
          </a:xfrm>
          <a:prstGeom prst="rect">
            <a:avLst/>
          </a:prstGeom>
          <a:noFill/>
        </p:spPr>
        <p:txBody>
          <a:bodyPr wrap="square">
            <a:spAutoFit/>
          </a:bodyPr>
          <a:lstStyle/>
          <a:p>
            <a:pPr algn="l">
              <a:defRPr sz="1400" b="1">
                <a:solidFill>
                  <a:srgbClr val="28303C"/>
                </a:solidFill>
                <a:latin typeface="Aptos"/>
              </a:defRPr>
            </a:pPr>
            <a:r>
              <a:t>Protect the strong South market while using region-specific campaigns to grow other markets.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solidFill>
              <a:srgbClr val="F4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789920" cy="502920"/>
          </a:xfrm>
          <a:prstGeom prst="rect">
            <a:avLst/>
          </a:prstGeom>
          <a:noFill/>
        </p:spPr>
        <p:txBody>
          <a:bodyPr wrap="square">
            <a:spAutoFit/>
          </a:bodyPr>
          <a:lstStyle/>
          <a:p>
            <a:pPr algn="l">
              <a:defRPr sz="2800" b="1">
                <a:solidFill>
                  <a:srgbClr val="12233A"/>
                </a:solidFill>
                <a:latin typeface="Aptos"/>
              </a:defRPr>
            </a:pPr>
            <a:r>
              <a:t>Customer, Product &amp; Payment Insights</a:t>
            </a:r>
          </a:p>
        </p:txBody>
      </p:sp>
      <p:sp>
        <p:nvSpPr>
          <p:cNvPr id="5" name="TextBox 4"/>
          <p:cNvSpPr txBox="1"/>
          <p:nvPr/>
        </p:nvSpPr>
        <p:spPr>
          <a:xfrm>
            <a:off x="9875520" y="438912"/>
            <a:ext cx="1645920" cy="274320"/>
          </a:xfrm>
          <a:prstGeom prst="rect">
            <a:avLst/>
          </a:prstGeom>
          <a:noFill/>
        </p:spPr>
        <p:txBody>
          <a:bodyPr wrap="square">
            <a:spAutoFit/>
          </a:bodyPr>
          <a:lstStyle/>
          <a:p>
            <a:pPr algn="r">
              <a:defRPr sz="1000" b="1">
                <a:solidFill>
                  <a:srgbClr val="26A69A"/>
                </a:solidFill>
                <a:latin typeface="Aptos"/>
              </a:defRPr>
            </a:pPr>
            <a:r>
              <a:t>07 • FINDINGS</a:t>
            </a:r>
          </a:p>
        </p:txBody>
      </p:sp>
      <p:sp>
        <p:nvSpPr>
          <p:cNvPr id="6" name="TextBox 5"/>
          <p:cNvSpPr txBox="1"/>
          <p:nvPr/>
        </p:nvSpPr>
        <p:spPr>
          <a:xfrm>
            <a:off x="11201400" y="6446520"/>
            <a:ext cx="411480" cy="228600"/>
          </a:xfrm>
          <a:prstGeom prst="rect">
            <a:avLst/>
          </a:prstGeom>
          <a:noFill/>
        </p:spPr>
        <p:txBody>
          <a:bodyPr wrap="square">
            <a:spAutoFit/>
          </a:bodyPr>
          <a:lstStyle/>
          <a:p>
            <a:pPr algn="r">
              <a:defRPr sz="1000" b="0">
                <a:solidFill>
                  <a:srgbClr val="677280"/>
                </a:solidFill>
                <a:latin typeface="Aptos"/>
              </a:defRPr>
            </a:pPr>
            <a:r>
              <a:t>08</a:t>
            </a:r>
          </a:p>
        </p:txBody>
      </p:sp>
      <p:sp>
        <p:nvSpPr>
          <p:cNvPr id="7" name="Rounded Rectangle 6"/>
          <p:cNvSpPr/>
          <p:nvPr/>
        </p:nvSpPr>
        <p:spPr>
          <a:xfrm>
            <a:off x="685800" y="1325880"/>
            <a:ext cx="3383280" cy="43434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325880"/>
            <a:ext cx="3383280" cy="109728"/>
          </a:xfrm>
          <a:prstGeom prst="rect">
            <a:avLst/>
          </a:prstGeom>
          <a:solidFill>
            <a:srgbClr val="2B6CB0"/>
          </a:solidFill>
          <a:ln>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691640"/>
            <a:ext cx="2743200" cy="320040"/>
          </a:xfrm>
          <a:prstGeom prst="rect">
            <a:avLst/>
          </a:prstGeom>
          <a:noFill/>
        </p:spPr>
        <p:txBody>
          <a:bodyPr wrap="square">
            <a:spAutoFit/>
          </a:bodyPr>
          <a:lstStyle/>
          <a:p>
            <a:pPr algn="l">
              <a:defRPr sz="1200" b="1">
                <a:solidFill>
                  <a:srgbClr val="2B6CB0"/>
                </a:solidFill>
                <a:latin typeface="Aptos"/>
              </a:defRPr>
            </a:pPr>
            <a:r>
              <a:t>CUSTOMER SEGMENT</a:t>
            </a:r>
          </a:p>
        </p:txBody>
      </p:sp>
      <p:sp>
        <p:nvSpPr>
          <p:cNvPr id="10" name="TextBox 9"/>
          <p:cNvSpPr txBox="1"/>
          <p:nvPr/>
        </p:nvSpPr>
        <p:spPr>
          <a:xfrm>
            <a:off x="960120" y="2286000"/>
            <a:ext cx="2788920" cy="1143000"/>
          </a:xfrm>
          <a:prstGeom prst="rect">
            <a:avLst/>
          </a:prstGeom>
          <a:noFill/>
        </p:spPr>
        <p:txBody>
          <a:bodyPr wrap="square">
            <a:spAutoFit/>
          </a:bodyPr>
          <a:lstStyle/>
          <a:p>
            <a:pPr algn="l">
              <a:defRPr sz="1800" b="1">
                <a:solidFill>
                  <a:srgbClr val="12233A"/>
                </a:solidFill>
                <a:latin typeface="Aptos"/>
              </a:defRPr>
            </a:pPr>
            <a:r>
              <a:t>Corporate customers generate the highest sales.</a:t>
            </a:r>
          </a:p>
        </p:txBody>
      </p:sp>
      <p:sp>
        <p:nvSpPr>
          <p:cNvPr id="11" name="TextBox 10"/>
          <p:cNvSpPr txBox="1"/>
          <p:nvPr/>
        </p:nvSpPr>
        <p:spPr>
          <a:xfrm>
            <a:off x="960120" y="3840480"/>
            <a:ext cx="2103120" cy="274320"/>
          </a:xfrm>
          <a:prstGeom prst="rect">
            <a:avLst/>
          </a:prstGeom>
          <a:noFill/>
        </p:spPr>
        <p:txBody>
          <a:bodyPr wrap="square">
            <a:spAutoFit/>
          </a:bodyPr>
          <a:lstStyle/>
          <a:p>
            <a:pPr algn="l">
              <a:defRPr sz="1100" b="1">
                <a:solidFill>
                  <a:srgbClr val="677280"/>
                </a:solidFill>
                <a:latin typeface="Aptos"/>
              </a:defRPr>
            </a:pPr>
            <a:r>
              <a:t>RECOMMENDATION</a:t>
            </a:r>
          </a:p>
        </p:txBody>
      </p:sp>
      <p:sp>
        <p:nvSpPr>
          <p:cNvPr id="12" name="TextBox 11"/>
          <p:cNvSpPr txBox="1"/>
          <p:nvPr/>
        </p:nvSpPr>
        <p:spPr>
          <a:xfrm>
            <a:off x="960120" y="4206240"/>
            <a:ext cx="2788920" cy="914400"/>
          </a:xfrm>
          <a:prstGeom prst="rect">
            <a:avLst/>
          </a:prstGeom>
          <a:noFill/>
        </p:spPr>
        <p:txBody>
          <a:bodyPr wrap="square">
            <a:spAutoFit/>
          </a:bodyPr>
          <a:lstStyle/>
          <a:p>
            <a:pPr algn="l">
              <a:defRPr sz="1400" b="0">
                <a:solidFill>
                  <a:srgbClr val="28303C"/>
                </a:solidFill>
                <a:latin typeface="Aptos"/>
              </a:defRPr>
            </a:pPr>
            <a:r>
              <a:t>Create corporate packages, bulk-order offers and loyalty benefits.</a:t>
            </a:r>
          </a:p>
        </p:txBody>
      </p:sp>
      <p:sp>
        <p:nvSpPr>
          <p:cNvPr id="13" name="Rounded Rectangle 12"/>
          <p:cNvSpPr/>
          <p:nvPr/>
        </p:nvSpPr>
        <p:spPr>
          <a:xfrm>
            <a:off x="4389120" y="1325880"/>
            <a:ext cx="3383280" cy="43434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89120" y="1325880"/>
            <a:ext cx="3383280" cy="109728"/>
          </a:xfrm>
          <a:prstGeom prst="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63440" y="1691640"/>
            <a:ext cx="2743200" cy="320040"/>
          </a:xfrm>
          <a:prstGeom prst="rect">
            <a:avLst/>
          </a:prstGeom>
          <a:noFill/>
        </p:spPr>
        <p:txBody>
          <a:bodyPr wrap="square">
            <a:spAutoFit/>
          </a:bodyPr>
          <a:lstStyle/>
          <a:p>
            <a:pPr algn="l">
              <a:defRPr sz="1200" b="1">
                <a:solidFill>
                  <a:srgbClr val="26A69A"/>
                </a:solidFill>
                <a:latin typeface="Aptos"/>
              </a:defRPr>
            </a:pPr>
            <a:r>
              <a:t>TOP PRODUCT</a:t>
            </a:r>
          </a:p>
        </p:txBody>
      </p:sp>
      <p:sp>
        <p:nvSpPr>
          <p:cNvPr id="16" name="TextBox 15"/>
          <p:cNvSpPr txBox="1"/>
          <p:nvPr/>
        </p:nvSpPr>
        <p:spPr>
          <a:xfrm>
            <a:off x="4663440" y="2286000"/>
            <a:ext cx="2788920" cy="1143000"/>
          </a:xfrm>
          <a:prstGeom prst="rect">
            <a:avLst/>
          </a:prstGeom>
          <a:noFill/>
        </p:spPr>
        <p:txBody>
          <a:bodyPr wrap="square">
            <a:spAutoFit/>
          </a:bodyPr>
          <a:lstStyle/>
          <a:p>
            <a:pPr algn="l">
              <a:defRPr sz="1800" b="1">
                <a:solidFill>
                  <a:srgbClr val="12233A"/>
                </a:solidFill>
                <a:latin typeface="Aptos"/>
              </a:defRPr>
            </a:pPr>
            <a:r>
              <a:t>Chair is the highest-selling individual product.</a:t>
            </a:r>
          </a:p>
        </p:txBody>
      </p:sp>
      <p:sp>
        <p:nvSpPr>
          <p:cNvPr id="17" name="TextBox 16"/>
          <p:cNvSpPr txBox="1"/>
          <p:nvPr/>
        </p:nvSpPr>
        <p:spPr>
          <a:xfrm>
            <a:off x="4663440" y="3840480"/>
            <a:ext cx="2103120" cy="274320"/>
          </a:xfrm>
          <a:prstGeom prst="rect">
            <a:avLst/>
          </a:prstGeom>
          <a:noFill/>
        </p:spPr>
        <p:txBody>
          <a:bodyPr wrap="square">
            <a:spAutoFit/>
          </a:bodyPr>
          <a:lstStyle/>
          <a:p>
            <a:pPr algn="l">
              <a:defRPr sz="1100" b="1">
                <a:solidFill>
                  <a:srgbClr val="677280"/>
                </a:solidFill>
                <a:latin typeface="Aptos"/>
              </a:defRPr>
            </a:pPr>
            <a:r>
              <a:t>RECOMMENDATION</a:t>
            </a:r>
          </a:p>
        </p:txBody>
      </p:sp>
      <p:sp>
        <p:nvSpPr>
          <p:cNvPr id="18" name="TextBox 17"/>
          <p:cNvSpPr txBox="1"/>
          <p:nvPr/>
        </p:nvSpPr>
        <p:spPr>
          <a:xfrm>
            <a:off x="4663440" y="4206240"/>
            <a:ext cx="2788920" cy="914400"/>
          </a:xfrm>
          <a:prstGeom prst="rect">
            <a:avLst/>
          </a:prstGeom>
          <a:noFill/>
        </p:spPr>
        <p:txBody>
          <a:bodyPr wrap="square">
            <a:spAutoFit/>
          </a:bodyPr>
          <a:lstStyle/>
          <a:p>
            <a:pPr algn="l">
              <a:defRPr sz="1400" b="0">
                <a:solidFill>
                  <a:srgbClr val="28303C"/>
                </a:solidFill>
                <a:latin typeface="Aptos"/>
              </a:defRPr>
            </a:pPr>
            <a:r>
              <a:t>Maintain stock availability and test bundle promotions.</a:t>
            </a:r>
          </a:p>
        </p:txBody>
      </p:sp>
      <p:sp>
        <p:nvSpPr>
          <p:cNvPr id="19" name="Rounded Rectangle 18"/>
          <p:cNvSpPr/>
          <p:nvPr/>
        </p:nvSpPr>
        <p:spPr>
          <a:xfrm>
            <a:off x="8092440" y="1325880"/>
            <a:ext cx="3383280" cy="43434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92440" y="1325880"/>
            <a:ext cx="3383280" cy="109728"/>
          </a:xfrm>
          <a:prstGeom prst="rect">
            <a:avLst/>
          </a:prstGeom>
          <a:solidFill>
            <a:srgbClr val="E08533"/>
          </a:solidFill>
          <a:ln>
            <a:solidFill>
              <a:srgbClr val="E085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66760" y="1691640"/>
            <a:ext cx="2743200" cy="320040"/>
          </a:xfrm>
          <a:prstGeom prst="rect">
            <a:avLst/>
          </a:prstGeom>
          <a:noFill/>
        </p:spPr>
        <p:txBody>
          <a:bodyPr wrap="square">
            <a:spAutoFit/>
          </a:bodyPr>
          <a:lstStyle/>
          <a:p>
            <a:pPr algn="l">
              <a:defRPr sz="1200" b="1">
                <a:solidFill>
                  <a:srgbClr val="E08533"/>
                </a:solidFill>
                <a:latin typeface="Aptos"/>
              </a:defRPr>
            </a:pPr>
            <a:r>
              <a:t>PAYMENT</a:t>
            </a:r>
          </a:p>
        </p:txBody>
      </p:sp>
      <p:sp>
        <p:nvSpPr>
          <p:cNvPr id="22" name="TextBox 21"/>
          <p:cNvSpPr txBox="1"/>
          <p:nvPr/>
        </p:nvSpPr>
        <p:spPr>
          <a:xfrm>
            <a:off x="8366760" y="2286000"/>
            <a:ext cx="2788920" cy="1143000"/>
          </a:xfrm>
          <a:prstGeom prst="rect">
            <a:avLst/>
          </a:prstGeom>
          <a:noFill/>
        </p:spPr>
        <p:txBody>
          <a:bodyPr wrap="square">
            <a:spAutoFit/>
          </a:bodyPr>
          <a:lstStyle/>
          <a:p>
            <a:pPr algn="l">
              <a:defRPr sz="1800" b="1">
                <a:solidFill>
                  <a:srgbClr val="12233A"/>
                </a:solidFill>
                <a:latin typeface="Aptos"/>
              </a:defRPr>
            </a:pPr>
            <a:r>
              <a:t>Debit Card leads sales among payment methods.</a:t>
            </a:r>
          </a:p>
        </p:txBody>
      </p:sp>
      <p:sp>
        <p:nvSpPr>
          <p:cNvPr id="23" name="TextBox 22"/>
          <p:cNvSpPr txBox="1"/>
          <p:nvPr/>
        </p:nvSpPr>
        <p:spPr>
          <a:xfrm>
            <a:off x="8366760" y="3840480"/>
            <a:ext cx="2103120" cy="274320"/>
          </a:xfrm>
          <a:prstGeom prst="rect">
            <a:avLst/>
          </a:prstGeom>
          <a:noFill/>
        </p:spPr>
        <p:txBody>
          <a:bodyPr wrap="square">
            <a:spAutoFit/>
          </a:bodyPr>
          <a:lstStyle/>
          <a:p>
            <a:pPr algn="l">
              <a:defRPr sz="1100" b="1">
                <a:solidFill>
                  <a:srgbClr val="677280"/>
                </a:solidFill>
                <a:latin typeface="Aptos"/>
              </a:defRPr>
            </a:pPr>
            <a:r>
              <a:t>RECOMMENDATION</a:t>
            </a:r>
          </a:p>
        </p:txBody>
      </p:sp>
      <p:sp>
        <p:nvSpPr>
          <p:cNvPr id="24" name="TextBox 23"/>
          <p:cNvSpPr txBox="1"/>
          <p:nvPr/>
        </p:nvSpPr>
        <p:spPr>
          <a:xfrm>
            <a:off x="8366760" y="4206240"/>
            <a:ext cx="2788920" cy="914400"/>
          </a:xfrm>
          <a:prstGeom prst="rect">
            <a:avLst/>
          </a:prstGeom>
          <a:noFill/>
        </p:spPr>
        <p:txBody>
          <a:bodyPr wrap="square">
            <a:spAutoFit/>
          </a:bodyPr>
          <a:lstStyle/>
          <a:p>
            <a:pPr algn="l">
              <a:defRPr sz="1400" b="0">
                <a:solidFill>
                  <a:srgbClr val="28303C"/>
                </a:solidFill>
                <a:latin typeface="Aptos"/>
              </a:defRPr>
            </a:pPr>
            <a:r>
              <a:t>Continue digital-payment support and targeted incentives.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solidFill>
              <a:srgbClr val="F4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789920" cy="502920"/>
          </a:xfrm>
          <a:prstGeom prst="rect">
            <a:avLst/>
          </a:prstGeom>
          <a:noFill/>
        </p:spPr>
        <p:txBody>
          <a:bodyPr wrap="square">
            <a:spAutoFit/>
          </a:bodyPr>
          <a:lstStyle/>
          <a:p>
            <a:pPr algn="l">
              <a:defRPr sz="2800" b="1">
                <a:solidFill>
                  <a:srgbClr val="12233A"/>
                </a:solidFill>
                <a:latin typeface="Aptos"/>
              </a:defRPr>
            </a:pPr>
            <a:r>
              <a:t>Time, Discount &amp; Operations Insights</a:t>
            </a:r>
          </a:p>
        </p:txBody>
      </p:sp>
      <p:sp>
        <p:nvSpPr>
          <p:cNvPr id="5" name="TextBox 4"/>
          <p:cNvSpPr txBox="1"/>
          <p:nvPr/>
        </p:nvSpPr>
        <p:spPr>
          <a:xfrm>
            <a:off x="9875520" y="438912"/>
            <a:ext cx="1645920" cy="274320"/>
          </a:xfrm>
          <a:prstGeom prst="rect">
            <a:avLst/>
          </a:prstGeom>
          <a:noFill/>
        </p:spPr>
        <p:txBody>
          <a:bodyPr wrap="square">
            <a:spAutoFit/>
          </a:bodyPr>
          <a:lstStyle/>
          <a:p>
            <a:pPr algn="r">
              <a:defRPr sz="1000" b="1">
                <a:solidFill>
                  <a:srgbClr val="26A69A"/>
                </a:solidFill>
                <a:latin typeface="Aptos"/>
              </a:defRPr>
            </a:pPr>
            <a:r>
              <a:t>08 • FINDINGS</a:t>
            </a:r>
          </a:p>
        </p:txBody>
      </p:sp>
      <p:sp>
        <p:nvSpPr>
          <p:cNvPr id="6" name="TextBox 5"/>
          <p:cNvSpPr txBox="1"/>
          <p:nvPr/>
        </p:nvSpPr>
        <p:spPr>
          <a:xfrm>
            <a:off x="11201400" y="6446520"/>
            <a:ext cx="411480" cy="228600"/>
          </a:xfrm>
          <a:prstGeom prst="rect">
            <a:avLst/>
          </a:prstGeom>
          <a:noFill/>
        </p:spPr>
        <p:txBody>
          <a:bodyPr wrap="square">
            <a:spAutoFit/>
          </a:bodyPr>
          <a:lstStyle/>
          <a:p>
            <a:pPr algn="r">
              <a:defRPr sz="1000" b="0">
                <a:solidFill>
                  <a:srgbClr val="677280"/>
                </a:solidFill>
                <a:latin typeface="Aptos"/>
              </a:defRPr>
            </a:pPr>
            <a:r>
              <a:t>09</a:t>
            </a:r>
          </a:p>
        </p:txBody>
      </p:sp>
      <p:sp>
        <p:nvSpPr>
          <p:cNvPr id="7" name="TextBox 6"/>
          <p:cNvSpPr txBox="1"/>
          <p:nvPr/>
        </p:nvSpPr>
        <p:spPr>
          <a:xfrm>
            <a:off x="822960" y="1371600"/>
            <a:ext cx="10515600" cy="3108960"/>
          </a:xfrm>
          <a:prstGeom prst="rect">
            <a:avLst/>
          </a:prstGeom>
          <a:noFill/>
        </p:spPr>
        <p:txBody>
          <a:bodyPr wrap="square">
            <a:spAutoFit/>
          </a:bodyPr>
          <a:lstStyle/>
          <a:p>
            <a:pPr>
              <a:spcAft>
                <a:spcPts val="1200"/>
              </a:spcAft>
              <a:defRPr sz="1700">
                <a:solidFill>
                  <a:srgbClr val="28303C"/>
                </a:solidFill>
                <a:latin typeface="Aptos"/>
              </a:defRPr>
            </a:pPr>
            <a:r>
              <a:t>November 2024 recorded the highest monthly sales at approximately ₹7.08 Crore.</a:t>
            </a:r>
          </a:p>
          <a:p>
            <a:pPr>
              <a:spcAft>
                <a:spcPts val="1200"/>
              </a:spcAft>
              <a:defRPr sz="1700">
                <a:solidFill>
                  <a:srgbClr val="28303C"/>
                </a:solidFill>
                <a:latin typeface="Aptos"/>
              </a:defRPr>
            </a:pPr>
            <a:r>
              <a:t>Average discount is approximately 15%, so discount effectiveness should be monitored against profit.</a:t>
            </a:r>
          </a:p>
          <a:p>
            <a:pPr>
              <a:spcAft>
                <a:spcPts val="1200"/>
              </a:spcAft>
              <a:defRPr sz="1700">
                <a:solidFill>
                  <a:srgbClr val="28303C"/>
                </a:solidFill>
                <a:latin typeface="Aptos"/>
              </a:defRPr>
            </a:pPr>
            <a:r>
              <a:t>Average delivery time is around 4 days and can be used as an operational benchmark.</a:t>
            </a:r>
          </a:p>
          <a:p>
            <a:pPr>
              <a:spcAft>
                <a:spcPts val="1200"/>
              </a:spcAft>
              <a:defRPr sz="1700">
                <a:solidFill>
                  <a:srgbClr val="28303C"/>
                </a:solidFill>
                <a:latin typeface="Aptos"/>
              </a:defRPr>
            </a:pPr>
            <a:r>
              <a:t>Shipping cost and delivery performance should be monitored by region and city.</a:t>
            </a:r>
          </a:p>
          <a:p>
            <a:pPr>
              <a:spcAft>
                <a:spcPts val="1200"/>
              </a:spcAft>
              <a:defRPr sz="1700">
                <a:solidFill>
                  <a:srgbClr val="28303C"/>
                </a:solidFill>
                <a:latin typeface="Aptos"/>
              </a:defRPr>
            </a:pPr>
            <a:r>
              <a:t>Historical monthly trends can support inventory and campaign planning.</a:t>
            </a:r>
          </a:p>
        </p:txBody>
      </p:sp>
      <p:sp>
        <p:nvSpPr>
          <p:cNvPr id="8" name="Rounded Rectangle 7"/>
          <p:cNvSpPr/>
          <p:nvPr/>
        </p:nvSpPr>
        <p:spPr>
          <a:xfrm>
            <a:off x="822960" y="4663440"/>
            <a:ext cx="10515600" cy="822960"/>
          </a:xfrm>
          <a:prstGeom prst="roundRect">
            <a:avLst/>
          </a:prstGeom>
          <a:solidFill>
            <a:srgbClr val="E8F7F3"/>
          </a:solidFill>
          <a:ln>
            <a:solidFill>
              <a:srgbClr val="BEE1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4910328"/>
            <a:ext cx="10058400" cy="320040"/>
          </a:xfrm>
          <a:prstGeom prst="rect">
            <a:avLst/>
          </a:prstGeom>
          <a:noFill/>
        </p:spPr>
        <p:txBody>
          <a:bodyPr wrap="square">
            <a:spAutoFit/>
          </a:bodyPr>
          <a:lstStyle/>
          <a:p>
            <a:pPr algn="ctr">
              <a:defRPr sz="1400" b="1">
                <a:solidFill>
                  <a:srgbClr val="277D58"/>
                </a:solidFill>
                <a:latin typeface="Aptos"/>
              </a:defRPr>
            </a:pPr>
            <a:r>
              <a:t>BUSINESS ACTION  •  Prepare inventory and marketing ahead of peak periods while protecting margins through disciplined discounting.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solidFill>
              <a:srgbClr val="F4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789920" cy="502920"/>
          </a:xfrm>
          <a:prstGeom prst="rect">
            <a:avLst/>
          </a:prstGeom>
          <a:noFill/>
        </p:spPr>
        <p:txBody>
          <a:bodyPr wrap="square">
            <a:spAutoFit/>
          </a:bodyPr>
          <a:lstStyle/>
          <a:p>
            <a:pPr algn="l">
              <a:defRPr sz="2800" b="1">
                <a:solidFill>
                  <a:srgbClr val="12233A"/>
                </a:solidFill>
                <a:latin typeface="Aptos"/>
              </a:defRPr>
            </a:pPr>
            <a:r>
              <a:t>Recommended Dashboard Design</a:t>
            </a:r>
          </a:p>
        </p:txBody>
      </p:sp>
      <p:sp>
        <p:nvSpPr>
          <p:cNvPr id="5" name="TextBox 4"/>
          <p:cNvSpPr txBox="1"/>
          <p:nvPr/>
        </p:nvSpPr>
        <p:spPr>
          <a:xfrm>
            <a:off x="9875520" y="438912"/>
            <a:ext cx="1645920" cy="274320"/>
          </a:xfrm>
          <a:prstGeom prst="rect">
            <a:avLst/>
          </a:prstGeom>
          <a:noFill/>
        </p:spPr>
        <p:txBody>
          <a:bodyPr wrap="square">
            <a:spAutoFit/>
          </a:bodyPr>
          <a:lstStyle/>
          <a:p>
            <a:pPr algn="r">
              <a:defRPr sz="1000" b="1">
                <a:solidFill>
                  <a:srgbClr val="26A69A"/>
                </a:solidFill>
                <a:latin typeface="Aptos"/>
              </a:defRPr>
            </a:pPr>
            <a:r>
              <a:t>09 • SOLUTION</a:t>
            </a:r>
          </a:p>
        </p:txBody>
      </p:sp>
      <p:sp>
        <p:nvSpPr>
          <p:cNvPr id="6" name="TextBox 5"/>
          <p:cNvSpPr txBox="1"/>
          <p:nvPr/>
        </p:nvSpPr>
        <p:spPr>
          <a:xfrm>
            <a:off x="11201400" y="6446520"/>
            <a:ext cx="411480" cy="228600"/>
          </a:xfrm>
          <a:prstGeom prst="rect">
            <a:avLst/>
          </a:prstGeom>
          <a:noFill/>
        </p:spPr>
        <p:txBody>
          <a:bodyPr wrap="square">
            <a:spAutoFit/>
          </a:bodyPr>
          <a:lstStyle/>
          <a:p>
            <a:pPr algn="r">
              <a:defRPr sz="1000" b="0">
                <a:solidFill>
                  <a:srgbClr val="677280"/>
                </a:solidFill>
                <a:latin typeface="Aptos"/>
              </a:defRPr>
            </a:pPr>
            <a:r>
              <a:t>10</a:t>
            </a:r>
          </a:p>
        </p:txBody>
      </p:sp>
      <p:sp>
        <p:nvSpPr>
          <p:cNvPr id="7" name="Rounded Rectangle 6"/>
          <p:cNvSpPr/>
          <p:nvPr/>
        </p:nvSpPr>
        <p:spPr>
          <a:xfrm>
            <a:off x="685800" y="1234440"/>
            <a:ext cx="5212080" cy="105156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234440"/>
            <a:ext cx="73152" cy="1051560"/>
          </a:xfrm>
          <a:prstGeom prst="rect">
            <a:avLst/>
          </a:prstGeom>
          <a:solidFill>
            <a:srgbClr val="2B6CB0"/>
          </a:solidFill>
          <a:ln>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1435608"/>
            <a:ext cx="4800600" cy="256032"/>
          </a:xfrm>
          <a:prstGeom prst="rect">
            <a:avLst/>
          </a:prstGeom>
          <a:noFill/>
        </p:spPr>
        <p:txBody>
          <a:bodyPr wrap="square">
            <a:spAutoFit/>
          </a:bodyPr>
          <a:lstStyle/>
          <a:p>
            <a:pPr algn="l">
              <a:defRPr sz="1100" b="1">
                <a:solidFill>
                  <a:srgbClr val="2B6CB0"/>
                </a:solidFill>
                <a:latin typeface="Aptos"/>
              </a:defRPr>
            </a:pPr>
            <a:r>
              <a:t>KPI CARDS</a:t>
            </a:r>
          </a:p>
        </p:txBody>
      </p:sp>
      <p:sp>
        <p:nvSpPr>
          <p:cNvPr id="10" name="TextBox 9"/>
          <p:cNvSpPr txBox="1"/>
          <p:nvPr/>
        </p:nvSpPr>
        <p:spPr>
          <a:xfrm>
            <a:off x="914400" y="1801368"/>
            <a:ext cx="4800600" cy="457200"/>
          </a:xfrm>
          <a:prstGeom prst="rect">
            <a:avLst/>
          </a:prstGeom>
          <a:noFill/>
        </p:spPr>
        <p:txBody>
          <a:bodyPr wrap="square">
            <a:spAutoFit/>
          </a:bodyPr>
          <a:lstStyle/>
          <a:p>
            <a:pPr algn="l">
              <a:defRPr sz="1400" b="1">
                <a:solidFill>
                  <a:srgbClr val="12233A"/>
                </a:solidFill>
                <a:latin typeface="Aptos"/>
              </a:defRPr>
            </a:pPr>
            <a:r>
              <a:t>Sales • Profit • Orders • AOV • Margin</a:t>
            </a:r>
          </a:p>
        </p:txBody>
      </p:sp>
      <p:sp>
        <p:nvSpPr>
          <p:cNvPr id="11" name="Rounded Rectangle 10"/>
          <p:cNvSpPr/>
          <p:nvPr/>
        </p:nvSpPr>
        <p:spPr>
          <a:xfrm>
            <a:off x="6126480" y="1234440"/>
            <a:ext cx="5349240" cy="105156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26480" y="1234440"/>
            <a:ext cx="73152" cy="1051560"/>
          </a:xfrm>
          <a:prstGeom prst="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435608"/>
            <a:ext cx="4937759" cy="256032"/>
          </a:xfrm>
          <a:prstGeom prst="rect">
            <a:avLst/>
          </a:prstGeom>
          <a:noFill/>
        </p:spPr>
        <p:txBody>
          <a:bodyPr wrap="square">
            <a:spAutoFit/>
          </a:bodyPr>
          <a:lstStyle/>
          <a:p>
            <a:pPr algn="l">
              <a:defRPr sz="1100" b="1">
                <a:solidFill>
                  <a:srgbClr val="26A69A"/>
                </a:solidFill>
                <a:latin typeface="Aptos"/>
              </a:defRPr>
            </a:pPr>
            <a:r>
              <a:t>SALES TREND</a:t>
            </a:r>
          </a:p>
        </p:txBody>
      </p:sp>
      <p:sp>
        <p:nvSpPr>
          <p:cNvPr id="14" name="TextBox 13"/>
          <p:cNvSpPr txBox="1"/>
          <p:nvPr/>
        </p:nvSpPr>
        <p:spPr>
          <a:xfrm>
            <a:off x="6355080" y="1801368"/>
            <a:ext cx="4937759" cy="457200"/>
          </a:xfrm>
          <a:prstGeom prst="rect">
            <a:avLst/>
          </a:prstGeom>
          <a:noFill/>
        </p:spPr>
        <p:txBody>
          <a:bodyPr wrap="square">
            <a:spAutoFit/>
          </a:bodyPr>
          <a:lstStyle/>
          <a:p>
            <a:pPr algn="l">
              <a:defRPr sz="1400" b="1">
                <a:solidFill>
                  <a:srgbClr val="12233A"/>
                </a:solidFill>
                <a:latin typeface="Aptos"/>
              </a:defRPr>
            </a:pPr>
            <a:r>
              <a:t>Monthly sales &amp; profit trend</a:t>
            </a:r>
          </a:p>
        </p:txBody>
      </p:sp>
      <p:sp>
        <p:nvSpPr>
          <p:cNvPr id="15" name="Rounded Rectangle 14"/>
          <p:cNvSpPr/>
          <p:nvPr/>
        </p:nvSpPr>
        <p:spPr>
          <a:xfrm>
            <a:off x="685800" y="2606040"/>
            <a:ext cx="33832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85800" y="2606040"/>
            <a:ext cx="73152" cy="1234440"/>
          </a:xfrm>
          <a:prstGeom prst="rect">
            <a:avLst/>
          </a:prstGeom>
          <a:solidFill>
            <a:srgbClr val="E08533"/>
          </a:solidFill>
          <a:ln>
            <a:solidFill>
              <a:srgbClr val="E085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2807208"/>
            <a:ext cx="2971800" cy="256032"/>
          </a:xfrm>
          <a:prstGeom prst="rect">
            <a:avLst/>
          </a:prstGeom>
          <a:noFill/>
        </p:spPr>
        <p:txBody>
          <a:bodyPr wrap="square">
            <a:spAutoFit/>
          </a:bodyPr>
          <a:lstStyle/>
          <a:p>
            <a:pPr algn="l">
              <a:defRPr sz="1100" b="1">
                <a:solidFill>
                  <a:srgbClr val="E08533"/>
                </a:solidFill>
                <a:latin typeface="Aptos"/>
              </a:defRPr>
            </a:pPr>
            <a:r>
              <a:t>CATEGORY / REGION</a:t>
            </a:r>
          </a:p>
        </p:txBody>
      </p:sp>
      <p:sp>
        <p:nvSpPr>
          <p:cNvPr id="18" name="TextBox 17"/>
          <p:cNvSpPr txBox="1"/>
          <p:nvPr/>
        </p:nvSpPr>
        <p:spPr>
          <a:xfrm>
            <a:off x="914400" y="3172968"/>
            <a:ext cx="2971800" cy="457200"/>
          </a:xfrm>
          <a:prstGeom prst="rect">
            <a:avLst/>
          </a:prstGeom>
          <a:noFill/>
        </p:spPr>
        <p:txBody>
          <a:bodyPr wrap="square">
            <a:spAutoFit/>
          </a:bodyPr>
          <a:lstStyle/>
          <a:p>
            <a:pPr algn="l">
              <a:defRPr sz="1400" b="1">
                <a:solidFill>
                  <a:srgbClr val="12233A"/>
                </a:solidFill>
                <a:latin typeface="Aptos"/>
              </a:defRPr>
            </a:pPr>
            <a:r>
              <a:t>Performance comparison</a:t>
            </a:r>
          </a:p>
        </p:txBody>
      </p:sp>
      <p:sp>
        <p:nvSpPr>
          <p:cNvPr id="19" name="Rounded Rectangle 18"/>
          <p:cNvSpPr/>
          <p:nvPr/>
        </p:nvSpPr>
        <p:spPr>
          <a:xfrm>
            <a:off x="4389120" y="2606040"/>
            <a:ext cx="33832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89120" y="2606040"/>
            <a:ext cx="73152" cy="1234440"/>
          </a:xfrm>
          <a:prstGeom prst="rect">
            <a:avLst/>
          </a:prstGeom>
          <a:solidFill>
            <a:srgbClr val="2B6CB0"/>
          </a:solidFill>
          <a:ln>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617720" y="2807208"/>
            <a:ext cx="2971800" cy="256032"/>
          </a:xfrm>
          <a:prstGeom prst="rect">
            <a:avLst/>
          </a:prstGeom>
          <a:noFill/>
        </p:spPr>
        <p:txBody>
          <a:bodyPr wrap="square">
            <a:spAutoFit/>
          </a:bodyPr>
          <a:lstStyle/>
          <a:p>
            <a:pPr algn="l">
              <a:defRPr sz="1100" b="1">
                <a:solidFill>
                  <a:srgbClr val="2B6CB0"/>
                </a:solidFill>
                <a:latin typeface="Aptos"/>
              </a:defRPr>
            </a:pPr>
            <a:r>
              <a:t>TOP PRODUCTS</a:t>
            </a:r>
          </a:p>
        </p:txBody>
      </p:sp>
      <p:sp>
        <p:nvSpPr>
          <p:cNvPr id="22" name="TextBox 21"/>
          <p:cNvSpPr txBox="1"/>
          <p:nvPr/>
        </p:nvSpPr>
        <p:spPr>
          <a:xfrm>
            <a:off x="4617720" y="3172968"/>
            <a:ext cx="2971800" cy="457200"/>
          </a:xfrm>
          <a:prstGeom prst="rect">
            <a:avLst/>
          </a:prstGeom>
          <a:noFill/>
        </p:spPr>
        <p:txBody>
          <a:bodyPr wrap="square">
            <a:spAutoFit/>
          </a:bodyPr>
          <a:lstStyle/>
          <a:p>
            <a:pPr algn="l">
              <a:defRPr sz="1400" b="1">
                <a:solidFill>
                  <a:srgbClr val="12233A"/>
                </a:solidFill>
                <a:latin typeface="Aptos"/>
              </a:defRPr>
            </a:pPr>
            <a:r>
              <a:t>Top 10 by sales/profit</a:t>
            </a:r>
          </a:p>
        </p:txBody>
      </p:sp>
      <p:sp>
        <p:nvSpPr>
          <p:cNvPr id="23" name="Rounded Rectangle 22"/>
          <p:cNvSpPr/>
          <p:nvPr/>
        </p:nvSpPr>
        <p:spPr>
          <a:xfrm>
            <a:off x="8092440" y="2606040"/>
            <a:ext cx="33832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092440" y="2606040"/>
            <a:ext cx="73152" cy="1234440"/>
          </a:xfrm>
          <a:prstGeom prst="rect">
            <a:avLst/>
          </a:prstGeom>
          <a:solidFill>
            <a:srgbClr val="277D58"/>
          </a:solidFill>
          <a:ln>
            <a:solidFill>
              <a:srgbClr val="277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21040" y="2807208"/>
            <a:ext cx="2971800" cy="256032"/>
          </a:xfrm>
          <a:prstGeom prst="rect">
            <a:avLst/>
          </a:prstGeom>
          <a:noFill/>
        </p:spPr>
        <p:txBody>
          <a:bodyPr wrap="square">
            <a:spAutoFit/>
          </a:bodyPr>
          <a:lstStyle/>
          <a:p>
            <a:pPr algn="l">
              <a:defRPr sz="1100" b="1">
                <a:solidFill>
                  <a:srgbClr val="277D58"/>
                </a:solidFill>
                <a:latin typeface="Aptos"/>
              </a:defRPr>
            </a:pPr>
            <a:r>
              <a:t>CUSTOMER SEGMENTS</a:t>
            </a:r>
          </a:p>
        </p:txBody>
      </p:sp>
      <p:sp>
        <p:nvSpPr>
          <p:cNvPr id="26" name="TextBox 25"/>
          <p:cNvSpPr txBox="1"/>
          <p:nvPr/>
        </p:nvSpPr>
        <p:spPr>
          <a:xfrm>
            <a:off x="8321040" y="3172968"/>
            <a:ext cx="2971800" cy="457200"/>
          </a:xfrm>
          <a:prstGeom prst="rect">
            <a:avLst/>
          </a:prstGeom>
          <a:noFill/>
        </p:spPr>
        <p:txBody>
          <a:bodyPr wrap="square">
            <a:spAutoFit/>
          </a:bodyPr>
          <a:lstStyle/>
          <a:p>
            <a:pPr algn="l">
              <a:defRPr sz="1400" b="1">
                <a:solidFill>
                  <a:srgbClr val="12233A"/>
                </a:solidFill>
                <a:latin typeface="Aptos"/>
              </a:defRPr>
            </a:pPr>
            <a:r>
              <a:t>Corporate • Consumer • Home Office</a:t>
            </a:r>
          </a:p>
        </p:txBody>
      </p:sp>
      <p:sp>
        <p:nvSpPr>
          <p:cNvPr id="27" name="Rounded Rectangle 26"/>
          <p:cNvSpPr/>
          <p:nvPr/>
        </p:nvSpPr>
        <p:spPr>
          <a:xfrm>
            <a:off x="685800" y="4160520"/>
            <a:ext cx="33832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85800" y="4160520"/>
            <a:ext cx="73152" cy="1234440"/>
          </a:xfrm>
          <a:prstGeom prst="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4361688"/>
            <a:ext cx="2971800" cy="256032"/>
          </a:xfrm>
          <a:prstGeom prst="rect">
            <a:avLst/>
          </a:prstGeom>
          <a:noFill/>
        </p:spPr>
        <p:txBody>
          <a:bodyPr wrap="square">
            <a:spAutoFit/>
          </a:bodyPr>
          <a:lstStyle/>
          <a:p>
            <a:pPr algn="l">
              <a:defRPr sz="1100" b="1">
                <a:solidFill>
                  <a:srgbClr val="26A69A"/>
                </a:solidFill>
                <a:latin typeface="Aptos"/>
              </a:defRPr>
            </a:pPr>
            <a:r>
              <a:t>PAYMENT / STATUS</a:t>
            </a:r>
          </a:p>
        </p:txBody>
      </p:sp>
      <p:sp>
        <p:nvSpPr>
          <p:cNvPr id="30" name="TextBox 29"/>
          <p:cNvSpPr txBox="1"/>
          <p:nvPr/>
        </p:nvSpPr>
        <p:spPr>
          <a:xfrm>
            <a:off x="914400" y="4727448"/>
            <a:ext cx="2971800" cy="457200"/>
          </a:xfrm>
          <a:prstGeom prst="rect">
            <a:avLst/>
          </a:prstGeom>
          <a:noFill/>
        </p:spPr>
        <p:txBody>
          <a:bodyPr wrap="square">
            <a:spAutoFit/>
          </a:bodyPr>
          <a:lstStyle/>
          <a:p>
            <a:pPr algn="l">
              <a:defRPr sz="1400" b="1">
                <a:solidFill>
                  <a:srgbClr val="12233A"/>
                </a:solidFill>
                <a:latin typeface="Aptos"/>
              </a:defRPr>
            </a:pPr>
            <a:r>
              <a:t>Payment and order-status mix</a:t>
            </a:r>
          </a:p>
        </p:txBody>
      </p:sp>
      <p:sp>
        <p:nvSpPr>
          <p:cNvPr id="31" name="Rounded Rectangle 30"/>
          <p:cNvSpPr/>
          <p:nvPr/>
        </p:nvSpPr>
        <p:spPr>
          <a:xfrm>
            <a:off x="4389120" y="4160520"/>
            <a:ext cx="708660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389120" y="4160520"/>
            <a:ext cx="73152" cy="1234440"/>
          </a:xfrm>
          <a:prstGeom prst="rect">
            <a:avLst/>
          </a:prstGeom>
          <a:solidFill>
            <a:srgbClr val="E08533"/>
          </a:solidFill>
          <a:ln>
            <a:solidFill>
              <a:srgbClr val="E085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617720" y="4361688"/>
            <a:ext cx="6675120" cy="256032"/>
          </a:xfrm>
          <a:prstGeom prst="rect">
            <a:avLst/>
          </a:prstGeom>
          <a:noFill/>
        </p:spPr>
        <p:txBody>
          <a:bodyPr wrap="square">
            <a:spAutoFit/>
          </a:bodyPr>
          <a:lstStyle/>
          <a:p>
            <a:pPr algn="l">
              <a:defRPr sz="1100" b="1">
                <a:solidFill>
                  <a:srgbClr val="E08533"/>
                </a:solidFill>
                <a:latin typeface="Aptos"/>
              </a:defRPr>
            </a:pPr>
            <a:r>
              <a:t>AI INSIGHTS</a:t>
            </a:r>
          </a:p>
        </p:txBody>
      </p:sp>
      <p:sp>
        <p:nvSpPr>
          <p:cNvPr id="34" name="TextBox 33"/>
          <p:cNvSpPr txBox="1"/>
          <p:nvPr/>
        </p:nvSpPr>
        <p:spPr>
          <a:xfrm>
            <a:off x="4617720" y="4727448"/>
            <a:ext cx="6675120" cy="457200"/>
          </a:xfrm>
          <a:prstGeom prst="rect">
            <a:avLst/>
          </a:prstGeom>
          <a:noFill/>
        </p:spPr>
        <p:txBody>
          <a:bodyPr wrap="square">
            <a:spAutoFit/>
          </a:bodyPr>
          <a:lstStyle/>
          <a:p>
            <a:pPr algn="l">
              <a:defRPr sz="1400" b="1">
                <a:solidFill>
                  <a:srgbClr val="12233A"/>
                </a:solidFill>
                <a:latin typeface="Aptos"/>
              </a:defRPr>
            </a:pPr>
            <a:r>
              <a:t>Automated interpretation + recommendations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solidFill>
              <a:srgbClr val="F4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789920" cy="502920"/>
          </a:xfrm>
          <a:prstGeom prst="rect">
            <a:avLst/>
          </a:prstGeom>
          <a:noFill/>
        </p:spPr>
        <p:txBody>
          <a:bodyPr wrap="square">
            <a:spAutoFit/>
          </a:bodyPr>
          <a:lstStyle/>
          <a:p>
            <a:pPr algn="l">
              <a:defRPr sz="2800" b="1">
                <a:solidFill>
                  <a:srgbClr val="12233A"/>
                </a:solidFill>
                <a:latin typeface="Aptos"/>
              </a:defRPr>
            </a:pPr>
            <a:r>
              <a:t>Business Recommendations</a:t>
            </a:r>
          </a:p>
        </p:txBody>
      </p:sp>
      <p:sp>
        <p:nvSpPr>
          <p:cNvPr id="5" name="TextBox 4"/>
          <p:cNvSpPr txBox="1"/>
          <p:nvPr/>
        </p:nvSpPr>
        <p:spPr>
          <a:xfrm>
            <a:off x="9875520" y="438912"/>
            <a:ext cx="1645920" cy="274320"/>
          </a:xfrm>
          <a:prstGeom prst="rect">
            <a:avLst/>
          </a:prstGeom>
          <a:noFill/>
        </p:spPr>
        <p:txBody>
          <a:bodyPr wrap="square">
            <a:spAutoFit/>
          </a:bodyPr>
          <a:lstStyle/>
          <a:p>
            <a:pPr algn="r">
              <a:defRPr sz="1000" b="1">
                <a:solidFill>
                  <a:srgbClr val="26A69A"/>
                </a:solidFill>
                <a:latin typeface="Aptos"/>
              </a:defRPr>
            </a:pPr>
            <a:r>
              <a:t>10 • ACTION PLAN</a:t>
            </a:r>
          </a:p>
        </p:txBody>
      </p:sp>
      <p:sp>
        <p:nvSpPr>
          <p:cNvPr id="6" name="TextBox 5"/>
          <p:cNvSpPr txBox="1"/>
          <p:nvPr/>
        </p:nvSpPr>
        <p:spPr>
          <a:xfrm>
            <a:off x="11201400" y="6446520"/>
            <a:ext cx="411480" cy="228600"/>
          </a:xfrm>
          <a:prstGeom prst="rect">
            <a:avLst/>
          </a:prstGeom>
          <a:noFill/>
        </p:spPr>
        <p:txBody>
          <a:bodyPr wrap="square">
            <a:spAutoFit/>
          </a:bodyPr>
          <a:lstStyle/>
          <a:p>
            <a:pPr algn="r">
              <a:defRPr sz="1000" b="0">
                <a:solidFill>
                  <a:srgbClr val="677280"/>
                </a:solidFill>
                <a:latin typeface="Aptos"/>
              </a:defRPr>
            </a:pPr>
            <a:r>
              <a:t>11</a:t>
            </a:r>
          </a:p>
        </p:txBody>
      </p:sp>
      <p:sp>
        <p:nvSpPr>
          <p:cNvPr id="7" name="TextBox 6"/>
          <p:cNvSpPr txBox="1"/>
          <p:nvPr/>
        </p:nvSpPr>
        <p:spPr>
          <a:xfrm>
            <a:off x="868680" y="1325880"/>
            <a:ext cx="10424160" cy="4389120"/>
          </a:xfrm>
          <a:prstGeom prst="rect">
            <a:avLst/>
          </a:prstGeom>
          <a:noFill/>
        </p:spPr>
        <p:txBody>
          <a:bodyPr wrap="square">
            <a:spAutoFit/>
          </a:bodyPr>
          <a:lstStyle/>
          <a:p>
            <a:pPr>
              <a:spcAft>
                <a:spcPts val="1200"/>
              </a:spcAft>
              <a:defRPr sz="1700">
                <a:solidFill>
                  <a:srgbClr val="28303C"/>
                </a:solidFill>
                <a:latin typeface="Aptos"/>
              </a:defRPr>
            </a:pPr>
            <a:r>
              <a:t>Increase inventory and promotional focus on high-performing Electronics products.</a:t>
            </a:r>
          </a:p>
          <a:p>
            <a:pPr>
              <a:spcAft>
                <a:spcPts val="1200"/>
              </a:spcAft>
              <a:defRPr sz="1700">
                <a:solidFill>
                  <a:srgbClr val="28303C"/>
                </a:solidFill>
                <a:latin typeface="Aptos"/>
              </a:defRPr>
            </a:pPr>
            <a:r>
              <a:t>Maintain strong operations in South while developing targeted campaigns for North and West.</a:t>
            </a:r>
          </a:p>
          <a:p>
            <a:pPr>
              <a:spcAft>
                <a:spcPts val="1200"/>
              </a:spcAft>
              <a:defRPr sz="1700">
                <a:solidFill>
                  <a:srgbClr val="28303C"/>
                </a:solidFill>
                <a:latin typeface="Aptos"/>
              </a:defRPr>
            </a:pPr>
            <a:r>
              <a:t>Build corporate packages and loyalty programs for high-value business customers.</a:t>
            </a:r>
          </a:p>
          <a:p>
            <a:pPr>
              <a:spcAft>
                <a:spcPts val="1200"/>
              </a:spcAft>
              <a:defRPr sz="1700">
                <a:solidFill>
                  <a:srgbClr val="28303C"/>
                </a:solidFill>
                <a:latin typeface="Aptos"/>
              </a:defRPr>
            </a:pPr>
            <a:r>
              <a:t>Use historical sales trends to prepare stock and campaigns before peak periods.</a:t>
            </a:r>
          </a:p>
          <a:p>
            <a:pPr>
              <a:spcAft>
                <a:spcPts val="1200"/>
              </a:spcAft>
              <a:defRPr sz="1700">
                <a:solidFill>
                  <a:srgbClr val="28303C"/>
                </a:solidFill>
                <a:latin typeface="Aptos"/>
              </a:defRPr>
            </a:pPr>
            <a:r>
              <a:t>Optimize discounts based on their impact on both sales and profit.</a:t>
            </a:r>
          </a:p>
          <a:p>
            <a:pPr>
              <a:spcAft>
                <a:spcPts val="1200"/>
              </a:spcAft>
              <a:defRPr sz="1700">
                <a:solidFill>
                  <a:srgbClr val="28303C"/>
                </a:solidFill>
                <a:latin typeface="Aptos"/>
              </a:defRPr>
            </a:pPr>
            <a:r>
              <a:t>Monitor delivery and shipping costs to improve operational efficiency.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solidFill>
              <a:srgbClr val="F4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789920" cy="502920"/>
          </a:xfrm>
          <a:prstGeom prst="rect">
            <a:avLst/>
          </a:prstGeom>
          <a:noFill/>
        </p:spPr>
        <p:txBody>
          <a:bodyPr wrap="square">
            <a:spAutoFit/>
          </a:bodyPr>
          <a:lstStyle/>
          <a:p>
            <a:pPr algn="l">
              <a:defRPr sz="2800" b="1">
                <a:solidFill>
                  <a:srgbClr val="12233A"/>
                </a:solidFill>
                <a:latin typeface="Aptos"/>
              </a:defRPr>
            </a:pPr>
            <a:r>
              <a:t>Project Workflow</a:t>
            </a:r>
          </a:p>
        </p:txBody>
      </p:sp>
      <p:sp>
        <p:nvSpPr>
          <p:cNvPr id="5" name="TextBox 4"/>
          <p:cNvSpPr txBox="1"/>
          <p:nvPr/>
        </p:nvSpPr>
        <p:spPr>
          <a:xfrm>
            <a:off x="9875520" y="438912"/>
            <a:ext cx="1645920" cy="274320"/>
          </a:xfrm>
          <a:prstGeom prst="rect">
            <a:avLst/>
          </a:prstGeom>
          <a:noFill/>
        </p:spPr>
        <p:txBody>
          <a:bodyPr wrap="square">
            <a:spAutoFit/>
          </a:bodyPr>
          <a:lstStyle/>
          <a:p>
            <a:pPr algn="r">
              <a:defRPr sz="1000" b="1">
                <a:solidFill>
                  <a:srgbClr val="26A69A"/>
                </a:solidFill>
                <a:latin typeface="Aptos"/>
              </a:defRPr>
            </a:pPr>
            <a:r>
              <a:t>11 • IMPLEMENTATION</a:t>
            </a:r>
          </a:p>
        </p:txBody>
      </p:sp>
      <p:sp>
        <p:nvSpPr>
          <p:cNvPr id="6" name="TextBox 5"/>
          <p:cNvSpPr txBox="1"/>
          <p:nvPr/>
        </p:nvSpPr>
        <p:spPr>
          <a:xfrm>
            <a:off x="11201400" y="6446520"/>
            <a:ext cx="411480" cy="228600"/>
          </a:xfrm>
          <a:prstGeom prst="rect">
            <a:avLst/>
          </a:prstGeom>
          <a:noFill/>
        </p:spPr>
        <p:txBody>
          <a:bodyPr wrap="square">
            <a:spAutoFit/>
          </a:bodyPr>
          <a:lstStyle/>
          <a:p>
            <a:pPr algn="r">
              <a:defRPr sz="1000" b="0">
                <a:solidFill>
                  <a:srgbClr val="677280"/>
                </a:solidFill>
                <a:latin typeface="Aptos"/>
              </a:defRPr>
            </a:pPr>
            <a:r>
              <a:t>12</a:t>
            </a:r>
          </a:p>
        </p:txBody>
      </p:sp>
      <p:sp>
        <p:nvSpPr>
          <p:cNvPr id="7" name="Rounded Rectangle 6"/>
          <p:cNvSpPr/>
          <p:nvPr/>
        </p:nvSpPr>
        <p:spPr>
          <a:xfrm>
            <a:off x="502920" y="2148840"/>
            <a:ext cx="1371600" cy="96012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2450592"/>
            <a:ext cx="1188720" cy="320040"/>
          </a:xfrm>
          <a:prstGeom prst="rect">
            <a:avLst/>
          </a:prstGeom>
          <a:noFill/>
        </p:spPr>
        <p:txBody>
          <a:bodyPr wrap="square">
            <a:spAutoFit/>
          </a:bodyPr>
          <a:lstStyle/>
          <a:p>
            <a:pPr algn="ctr">
              <a:defRPr sz="1200" b="1">
                <a:solidFill>
                  <a:srgbClr val="12233A"/>
                </a:solidFill>
                <a:latin typeface="Aptos"/>
              </a:defRPr>
            </a:pPr>
            <a:r>
              <a:t>Raw Data</a:t>
            </a:r>
          </a:p>
        </p:txBody>
      </p:sp>
      <p:sp>
        <p:nvSpPr>
          <p:cNvPr id="9" name="TextBox 8"/>
          <p:cNvSpPr txBox="1"/>
          <p:nvPr/>
        </p:nvSpPr>
        <p:spPr>
          <a:xfrm>
            <a:off x="1892808" y="2423160"/>
            <a:ext cx="274320" cy="320040"/>
          </a:xfrm>
          <a:prstGeom prst="rect">
            <a:avLst/>
          </a:prstGeom>
          <a:noFill/>
        </p:spPr>
        <p:txBody>
          <a:bodyPr wrap="square">
            <a:spAutoFit/>
          </a:bodyPr>
          <a:lstStyle/>
          <a:p>
            <a:pPr algn="ctr">
              <a:defRPr sz="2000" b="1">
                <a:solidFill>
                  <a:srgbClr val="26A69A"/>
                </a:solidFill>
                <a:latin typeface="Aptos"/>
              </a:defRPr>
            </a:pPr>
            <a:r>
              <a:t>→</a:t>
            </a:r>
          </a:p>
        </p:txBody>
      </p:sp>
      <p:sp>
        <p:nvSpPr>
          <p:cNvPr id="10" name="Rounded Rectangle 9"/>
          <p:cNvSpPr/>
          <p:nvPr/>
        </p:nvSpPr>
        <p:spPr>
          <a:xfrm>
            <a:off x="2176272" y="2148840"/>
            <a:ext cx="1371600" cy="96012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67712" y="2450592"/>
            <a:ext cx="1188720" cy="320040"/>
          </a:xfrm>
          <a:prstGeom prst="rect">
            <a:avLst/>
          </a:prstGeom>
          <a:noFill/>
        </p:spPr>
        <p:txBody>
          <a:bodyPr wrap="square">
            <a:spAutoFit/>
          </a:bodyPr>
          <a:lstStyle/>
          <a:p>
            <a:pPr algn="ctr">
              <a:defRPr sz="1200" b="1">
                <a:solidFill>
                  <a:srgbClr val="12233A"/>
                </a:solidFill>
                <a:latin typeface="Aptos"/>
              </a:defRPr>
            </a:pPr>
            <a:r>
              <a:t>Data Cleaning</a:t>
            </a:r>
          </a:p>
        </p:txBody>
      </p:sp>
      <p:sp>
        <p:nvSpPr>
          <p:cNvPr id="12" name="TextBox 11"/>
          <p:cNvSpPr txBox="1"/>
          <p:nvPr/>
        </p:nvSpPr>
        <p:spPr>
          <a:xfrm>
            <a:off x="3566160" y="2423160"/>
            <a:ext cx="274320" cy="320040"/>
          </a:xfrm>
          <a:prstGeom prst="rect">
            <a:avLst/>
          </a:prstGeom>
          <a:noFill/>
        </p:spPr>
        <p:txBody>
          <a:bodyPr wrap="square">
            <a:spAutoFit/>
          </a:bodyPr>
          <a:lstStyle/>
          <a:p>
            <a:pPr algn="ctr">
              <a:defRPr sz="2000" b="1">
                <a:solidFill>
                  <a:srgbClr val="26A69A"/>
                </a:solidFill>
                <a:latin typeface="Aptos"/>
              </a:defRPr>
            </a:pPr>
            <a:r>
              <a:t>→</a:t>
            </a:r>
          </a:p>
        </p:txBody>
      </p:sp>
      <p:sp>
        <p:nvSpPr>
          <p:cNvPr id="13" name="Rounded Rectangle 12"/>
          <p:cNvSpPr/>
          <p:nvPr/>
        </p:nvSpPr>
        <p:spPr>
          <a:xfrm>
            <a:off x="3849624" y="2148840"/>
            <a:ext cx="1371600" cy="96012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941063" y="2450592"/>
            <a:ext cx="1188720" cy="320040"/>
          </a:xfrm>
          <a:prstGeom prst="rect">
            <a:avLst/>
          </a:prstGeom>
          <a:noFill/>
        </p:spPr>
        <p:txBody>
          <a:bodyPr wrap="square">
            <a:spAutoFit/>
          </a:bodyPr>
          <a:lstStyle/>
          <a:p>
            <a:pPr algn="ctr">
              <a:defRPr sz="1200" b="1">
                <a:solidFill>
                  <a:srgbClr val="12233A"/>
                </a:solidFill>
                <a:latin typeface="Aptos"/>
              </a:defRPr>
            </a:pPr>
            <a:r>
              <a:t>Calculations</a:t>
            </a:r>
          </a:p>
        </p:txBody>
      </p:sp>
      <p:sp>
        <p:nvSpPr>
          <p:cNvPr id="15" name="TextBox 14"/>
          <p:cNvSpPr txBox="1"/>
          <p:nvPr/>
        </p:nvSpPr>
        <p:spPr>
          <a:xfrm>
            <a:off x="5239512" y="2423160"/>
            <a:ext cx="274320" cy="320040"/>
          </a:xfrm>
          <a:prstGeom prst="rect">
            <a:avLst/>
          </a:prstGeom>
          <a:noFill/>
        </p:spPr>
        <p:txBody>
          <a:bodyPr wrap="square">
            <a:spAutoFit/>
          </a:bodyPr>
          <a:lstStyle/>
          <a:p>
            <a:pPr algn="ctr">
              <a:defRPr sz="2000" b="1">
                <a:solidFill>
                  <a:srgbClr val="26A69A"/>
                </a:solidFill>
                <a:latin typeface="Aptos"/>
              </a:defRPr>
            </a:pPr>
            <a:r>
              <a:t>→</a:t>
            </a:r>
          </a:p>
        </p:txBody>
      </p:sp>
      <p:sp>
        <p:nvSpPr>
          <p:cNvPr id="16" name="Rounded Rectangle 15"/>
          <p:cNvSpPr/>
          <p:nvPr/>
        </p:nvSpPr>
        <p:spPr>
          <a:xfrm>
            <a:off x="5522976" y="2148840"/>
            <a:ext cx="1371600" cy="96012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14416" y="2450592"/>
            <a:ext cx="1188720" cy="320040"/>
          </a:xfrm>
          <a:prstGeom prst="rect">
            <a:avLst/>
          </a:prstGeom>
          <a:noFill/>
        </p:spPr>
        <p:txBody>
          <a:bodyPr wrap="square">
            <a:spAutoFit/>
          </a:bodyPr>
          <a:lstStyle/>
          <a:p>
            <a:pPr algn="ctr">
              <a:defRPr sz="1200" b="1">
                <a:solidFill>
                  <a:srgbClr val="12233A"/>
                </a:solidFill>
                <a:latin typeface="Aptos"/>
              </a:defRPr>
            </a:pPr>
            <a:r>
              <a:t>Pivot Tables</a:t>
            </a:r>
          </a:p>
        </p:txBody>
      </p:sp>
      <p:sp>
        <p:nvSpPr>
          <p:cNvPr id="18" name="TextBox 17"/>
          <p:cNvSpPr txBox="1"/>
          <p:nvPr/>
        </p:nvSpPr>
        <p:spPr>
          <a:xfrm>
            <a:off x="6912864" y="2423160"/>
            <a:ext cx="274320" cy="320040"/>
          </a:xfrm>
          <a:prstGeom prst="rect">
            <a:avLst/>
          </a:prstGeom>
          <a:noFill/>
        </p:spPr>
        <p:txBody>
          <a:bodyPr wrap="square">
            <a:spAutoFit/>
          </a:bodyPr>
          <a:lstStyle/>
          <a:p>
            <a:pPr algn="ctr">
              <a:defRPr sz="2000" b="1">
                <a:solidFill>
                  <a:srgbClr val="26A69A"/>
                </a:solidFill>
                <a:latin typeface="Aptos"/>
              </a:defRPr>
            </a:pPr>
            <a:r>
              <a:t>→</a:t>
            </a:r>
          </a:p>
        </p:txBody>
      </p:sp>
      <p:sp>
        <p:nvSpPr>
          <p:cNvPr id="19" name="Rounded Rectangle 18"/>
          <p:cNvSpPr/>
          <p:nvPr/>
        </p:nvSpPr>
        <p:spPr>
          <a:xfrm>
            <a:off x="7196328" y="2148840"/>
            <a:ext cx="1371600" cy="96012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87768" y="2450592"/>
            <a:ext cx="1188720" cy="320040"/>
          </a:xfrm>
          <a:prstGeom prst="rect">
            <a:avLst/>
          </a:prstGeom>
          <a:noFill/>
        </p:spPr>
        <p:txBody>
          <a:bodyPr wrap="square">
            <a:spAutoFit/>
          </a:bodyPr>
          <a:lstStyle/>
          <a:p>
            <a:pPr algn="ctr">
              <a:defRPr sz="1200" b="1">
                <a:solidFill>
                  <a:srgbClr val="12233A"/>
                </a:solidFill>
                <a:latin typeface="Aptos"/>
              </a:defRPr>
            </a:pPr>
            <a:r>
              <a:t>Dashboard</a:t>
            </a:r>
          </a:p>
        </p:txBody>
      </p:sp>
      <p:sp>
        <p:nvSpPr>
          <p:cNvPr id="21" name="TextBox 20"/>
          <p:cNvSpPr txBox="1"/>
          <p:nvPr/>
        </p:nvSpPr>
        <p:spPr>
          <a:xfrm>
            <a:off x="8586216" y="2423160"/>
            <a:ext cx="274320" cy="320040"/>
          </a:xfrm>
          <a:prstGeom prst="rect">
            <a:avLst/>
          </a:prstGeom>
          <a:noFill/>
        </p:spPr>
        <p:txBody>
          <a:bodyPr wrap="square">
            <a:spAutoFit/>
          </a:bodyPr>
          <a:lstStyle/>
          <a:p>
            <a:pPr algn="ctr">
              <a:defRPr sz="2000" b="1">
                <a:solidFill>
                  <a:srgbClr val="26A69A"/>
                </a:solidFill>
                <a:latin typeface="Aptos"/>
              </a:defRPr>
            </a:pPr>
            <a:r>
              <a:t>→</a:t>
            </a:r>
          </a:p>
        </p:txBody>
      </p:sp>
      <p:sp>
        <p:nvSpPr>
          <p:cNvPr id="22" name="Rounded Rectangle 21"/>
          <p:cNvSpPr/>
          <p:nvPr/>
        </p:nvSpPr>
        <p:spPr>
          <a:xfrm>
            <a:off x="8869680" y="2148840"/>
            <a:ext cx="1371600" cy="96012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61120" y="2450592"/>
            <a:ext cx="1188720" cy="320040"/>
          </a:xfrm>
          <a:prstGeom prst="rect">
            <a:avLst/>
          </a:prstGeom>
          <a:noFill/>
        </p:spPr>
        <p:txBody>
          <a:bodyPr wrap="square">
            <a:spAutoFit/>
          </a:bodyPr>
          <a:lstStyle/>
          <a:p>
            <a:pPr algn="ctr">
              <a:defRPr sz="1200" b="1">
                <a:solidFill>
                  <a:srgbClr val="12233A"/>
                </a:solidFill>
                <a:latin typeface="Aptos"/>
              </a:defRPr>
            </a:pPr>
            <a:r>
              <a:t>Insights</a:t>
            </a:r>
          </a:p>
        </p:txBody>
      </p:sp>
      <p:sp>
        <p:nvSpPr>
          <p:cNvPr id="24" name="TextBox 23"/>
          <p:cNvSpPr txBox="1"/>
          <p:nvPr/>
        </p:nvSpPr>
        <p:spPr>
          <a:xfrm>
            <a:off x="10259568" y="2423160"/>
            <a:ext cx="274320" cy="320040"/>
          </a:xfrm>
          <a:prstGeom prst="rect">
            <a:avLst/>
          </a:prstGeom>
          <a:noFill/>
        </p:spPr>
        <p:txBody>
          <a:bodyPr wrap="square">
            <a:spAutoFit/>
          </a:bodyPr>
          <a:lstStyle/>
          <a:p>
            <a:pPr algn="ctr">
              <a:defRPr sz="2000" b="1">
                <a:solidFill>
                  <a:srgbClr val="26A69A"/>
                </a:solidFill>
                <a:latin typeface="Aptos"/>
              </a:defRPr>
            </a:pPr>
            <a:r>
              <a:t>→</a:t>
            </a:r>
          </a:p>
        </p:txBody>
      </p:sp>
      <p:sp>
        <p:nvSpPr>
          <p:cNvPr id="25" name="Rounded Rectangle 24"/>
          <p:cNvSpPr/>
          <p:nvPr/>
        </p:nvSpPr>
        <p:spPr>
          <a:xfrm>
            <a:off x="10543032" y="2148840"/>
            <a:ext cx="1371600" cy="960120"/>
          </a:xfrm>
          <a:prstGeom prst="roundRect">
            <a:avLst/>
          </a:prstGeom>
          <a:solidFill>
            <a:srgbClr val="FFFFFF"/>
          </a:solidFill>
          <a:ln>
            <a:solidFill>
              <a:srgbClr val="D2DC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634472" y="2450592"/>
            <a:ext cx="1188720" cy="320040"/>
          </a:xfrm>
          <a:prstGeom prst="rect">
            <a:avLst/>
          </a:prstGeom>
          <a:noFill/>
        </p:spPr>
        <p:txBody>
          <a:bodyPr wrap="square">
            <a:spAutoFit/>
          </a:bodyPr>
          <a:lstStyle/>
          <a:p>
            <a:pPr algn="ctr">
              <a:defRPr sz="1200" b="1">
                <a:solidFill>
                  <a:srgbClr val="12233A"/>
                </a:solidFill>
                <a:latin typeface="Aptos"/>
              </a:defRPr>
            </a:pPr>
            <a:r>
              <a:t>Recommendations</a:t>
            </a:r>
          </a:p>
        </p:txBody>
      </p:sp>
      <p:sp>
        <p:nvSpPr>
          <p:cNvPr id="27" name="TextBox 26"/>
          <p:cNvSpPr txBox="1"/>
          <p:nvPr/>
        </p:nvSpPr>
        <p:spPr>
          <a:xfrm>
            <a:off x="1280160" y="3886200"/>
            <a:ext cx="9601200" cy="502920"/>
          </a:xfrm>
          <a:prstGeom prst="rect">
            <a:avLst/>
          </a:prstGeom>
          <a:noFill/>
        </p:spPr>
        <p:txBody>
          <a:bodyPr wrap="square">
            <a:spAutoFit/>
          </a:bodyPr>
          <a:lstStyle/>
          <a:p>
            <a:pPr algn="ctr">
              <a:defRPr sz="1800" b="1">
                <a:solidFill>
                  <a:srgbClr val="26A69A"/>
                </a:solidFill>
                <a:latin typeface="Aptos"/>
              </a:defRPr>
            </a:pPr>
            <a:r>
              <a:t>Excel Functions  +  Pivot Tables  +  Charts  +  Slicers  +  Business Analysis</a:t>
            </a:r>
          </a:p>
        </p:txBody>
      </p:sp>
      <p:sp>
        <p:nvSpPr>
          <p:cNvPr id="28" name="TextBox 27"/>
          <p:cNvSpPr txBox="1"/>
          <p:nvPr/>
        </p:nvSpPr>
        <p:spPr>
          <a:xfrm>
            <a:off x="1463040" y="4709160"/>
            <a:ext cx="9235440" cy="457200"/>
          </a:xfrm>
          <a:prstGeom prst="rect">
            <a:avLst/>
          </a:prstGeom>
          <a:noFill/>
        </p:spPr>
        <p:txBody>
          <a:bodyPr wrap="square">
            <a:spAutoFit/>
          </a:bodyPr>
          <a:lstStyle/>
          <a:p>
            <a:pPr algn="ctr">
              <a:defRPr sz="1500" b="0">
                <a:solidFill>
                  <a:srgbClr val="28303C"/>
                </a:solidFill>
                <a:latin typeface="Aptos"/>
              </a:defRPr>
            </a:pPr>
            <a:r>
              <a:t>The final dashboard converts raw transactional data into a decision-support tool.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B"/>
          </a:solidFill>
          <a:ln>
            <a:solidFill>
              <a:srgbClr val="F4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28016"/>
          </a:xfrm>
          <a:prstGeom prst="rect">
            <a:avLst/>
          </a:prstGeom>
          <a:solidFill>
            <a:srgbClr val="26A69A"/>
          </a:solidFill>
          <a:ln>
            <a:solidFill>
              <a:srgbClr val="26A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84048"/>
            <a:ext cx="10789920" cy="502920"/>
          </a:xfrm>
          <a:prstGeom prst="rect">
            <a:avLst/>
          </a:prstGeom>
          <a:noFill/>
        </p:spPr>
        <p:txBody>
          <a:bodyPr wrap="square">
            <a:spAutoFit/>
          </a:bodyPr>
          <a:lstStyle/>
          <a:p>
            <a:pPr algn="l">
              <a:defRPr sz="2800" b="1">
                <a:solidFill>
                  <a:srgbClr val="12233A"/>
                </a:solidFill>
                <a:latin typeface="Aptos"/>
              </a:defRPr>
            </a:pPr>
            <a:r>
              <a:t>Conclusion</a:t>
            </a:r>
          </a:p>
        </p:txBody>
      </p:sp>
      <p:sp>
        <p:nvSpPr>
          <p:cNvPr id="5" name="TextBox 4"/>
          <p:cNvSpPr txBox="1"/>
          <p:nvPr/>
        </p:nvSpPr>
        <p:spPr>
          <a:xfrm>
            <a:off x="9875520" y="438912"/>
            <a:ext cx="1645920" cy="274320"/>
          </a:xfrm>
          <a:prstGeom prst="rect">
            <a:avLst/>
          </a:prstGeom>
          <a:noFill/>
        </p:spPr>
        <p:txBody>
          <a:bodyPr wrap="square">
            <a:spAutoFit/>
          </a:bodyPr>
          <a:lstStyle/>
          <a:p>
            <a:pPr algn="r">
              <a:defRPr sz="1000" b="1">
                <a:solidFill>
                  <a:srgbClr val="26A69A"/>
                </a:solidFill>
                <a:latin typeface="Aptos"/>
              </a:defRPr>
            </a:pPr>
            <a:r>
              <a:t>12 • CLOSING</a:t>
            </a:r>
          </a:p>
        </p:txBody>
      </p:sp>
      <p:sp>
        <p:nvSpPr>
          <p:cNvPr id="6" name="TextBox 5"/>
          <p:cNvSpPr txBox="1"/>
          <p:nvPr/>
        </p:nvSpPr>
        <p:spPr>
          <a:xfrm>
            <a:off x="11201400" y="6446520"/>
            <a:ext cx="411480" cy="228600"/>
          </a:xfrm>
          <a:prstGeom prst="rect">
            <a:avLst/>
          </a:prstGeom>
          <a:noFill/>
        </p:spPr>
        <p:txBody>
          <a:bodyPr wrap="square">
            <a:spAutoFit/>
          </a:bodyPr>
          <a:lstStyle/>
          <a:p>
            <a:pPr algn="r">
              <a:defRPr sz="1000" b="0">
                <a:solidFill>
                  <a:srgbClr val="677280"/>
                </a:solidFill>
                <a:latin typeface="Aptos"/>
              </a:defRPr>
            </a:pPr>
            <a:r>
              <a:t>13</a:t>
            </a:r>
          </a:p>
        </p:txBody>
      </p:sp>
      <p:sp>
        <p:nvSpPr>
          <p:cNvPr id="7" name="Rounded Rectangle 6"/>
          <p:cNvSpPr/>
          <p:nvPr/>
        </p:nvSpPr>
        <p:spPr>
          <a:xfrm>
            <a:off x="731520" y="1325880"/>
            <a:ext cx="10744200" cy="347472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691640"/>
            <a:ext cx="2286000" cy="274320"/>
          </a:xfrm>
          <a:prstGeom prst="rect">
            <a:avLst/>
          </a:prstGeom>
          <a:noFill/>
        </p:spPr>
        <p:txBody>
          <a:bodyPr wrap="square">
            <a:spAutoFit/>
          </a:bodyPr>
          <a:lstStyle/>
          <a:p>
            <a:pPr algn="l">
              <a:defRPr sz="1200" b="1">
                <a:solidFill>
                  <a:srgbClr val="26A69A"/>
                </a:solidFill>
                <a:latin typeface="Aptos"/>
              </a:defRPr>
            </a:pPr>
            <a:r>
              <a:t>PROJECT OUTCOME</a:t>
            </a:r>
          </a:p>
        </p:txBody>
      </p:sp>
      <p:sp>
        <p:nvSpPr>
          <p:cNvPr id="9" name="TextBox 8"/>
          <p:cNvSpPr txBox="1"/>
          <p:nvPr/>
        </p:nvSpPr>
        <p:spPr>
          <a:xfrm>
            <a:off x="1051560" y="2103120"/>
            <a:ext cx="9692640" cy="777240"/>
          </a:xfrm>
          <a:prstGeom prst="rect">
            <a:avLst/>
          </a:prstGeom>
          <a:noFill/>
        </p:spPr>
        <p:txBody>
          <a:bodyPr wrap="square">
            <a:spAutoFit/>
          </a:bodyPr>
          <a:lstStyle/>
          <a:p>
            <a:pPr algn="l">
              <a:defRPr sz="2300" b="1">
                <a:solidFill>
                  <a:srgbClr val="12233A"/>
                </a:solidFill>
                <a:latin typeface="Aptos"/>
              </a:defRPr>
            </a:pPr>
            <a:r>
              <a:t>A practical Excel Business Intelligence solution that turns 10,000 retail records into clear, actionable insights.</a:t>
            </a:r>
          </a:p>
        </p:txBody>
      </p:sp>
      <p:sp>
        <p:nvSpPr>
          <p:cNvPr id="10" name="TextBox 9"/>
          <p:cNvSpPr txBox="1"/>
          <p:nvPr/>
        </p:nvSpPr>
        <p:spPr>
          <a:xfrm>
            <a:off x="1051560" y="3154680"/>
            <a:ext cx="9601200" cy="1280160"/>
          </a:xfrm>
          <a:prstGeom prst="rect">
            <a:avLst/>
          </a:prstGeom>
          <a:noFill/>
        </p:spPr>
        <p:txBody>
          <a:bodyPr wrap="square">
            <a:spAutoFit/>
          </a:bodyPr>
          <a:lstStyle/>
          <a:p>
            <a:pPr>
              <a:spcAft>
                <a:spcPts val="1200"/>
              </a:spcAft>
              <a:defRPr sz="1500">
                <a:solidFill>
                  <a:srgbClr val="28303C"/>
                </a:solidFill>
                <a:latin typeface="Aptos"/>
              </a:defRPr>
            </a:pPr>
            <a:r>
              <a:t>Helps management understand sales, profit, products, customers and regions.</a:t>
            </a:r>
          </a:p>
          <a:p>
            <a:pPr>
              <a:spcAft>
                <a:spcPts val="1200"/>
              </a:spcAft>
              <a:defRPr sz="1500">
                <a:solidFill>
                  <a:srgbClr val="28303C"/>
                </a:solidFill>
                <a:latin typeface="Aptos"/>
              </a:defRPr>
            </a:pPr>
            <a:r>
              <a:t>Supports better decisions in inventory, marketing, customer strategy and profitability.</a:t>
            </a:r>
          </a:p>
          <a:p>
            <a:pPr>
              <a:spcAft>
                <a:spcPts val="1200"/>
              </a:spcAft>
              <a:defRPr sz="1500">
                <a:solidFill>
                  <a:srgbClr val="28303C"/>
                </a:solidFill>
                <a:latin typeface="Aptos"/>
              </a:defRPr>
            </a:pPr>
            <a:r>
              <a:t>Demonstrates practical skills in Excel, data analysis, visualization and business storytelling.</a:t>
            </a:r>
          </a:p>
        </p:txBody>
      </p:sp>
      <p:sp>
        <p:nvSpPr>
          <p:cNvPr id="11" name="TextBox 10"/>
          <p:cNvSpPr txBox="1"/>
          <p:nvPr/>
        </p:nvSpPr>
        <p:spPr>
          <a:xfrm>
            <a:off x="914400" y="5623560"/>
            <a:ext cx="10332720" cy="457200"/>
          </a:xfrm>
          <a:prstGeom prst="rect">
            <a:avLst/>
          </a:prstGeom>
          <a:noFill/>
        </p:spPr>
        <p:txBody>
          <a:bodyPr wrap="square">
            <a:spAutoFit/>
          </a:bodyPr>
          <a:lstStyle/>
          <a:p>
            <a:pPr algn="ctr">
              <a:defRPr sz="2000" b="1">
                <a:solidFill>
                  <a:srgbClr val="26A69A"/>
                </a:solidFill>
                <a:latin typeface="Aptos"/>
              </a:defRPr>
            </a:pPr>
            <a:r>
              <a:t>Thank You  •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75</TotalTime>
  <Words>913</Words>
  <Application>Microsoft Office PowerPoint</Application>
  <PresentationFormat>Widescreen</PresentationFormat>
  <Paragraphs>186</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DELL</dc:creator>
  <cp:keywords/>
  <dc:description>generated using python-pptx</dc:description>
  <cp:lastModifiedBy>Amulya Pothala</cp:lastModifiedBy>
  <cp:revision>1</cp:revision>
  <dcterms:created xsi:type="dcterms:W3CDTF">2013-01-27T09:14:16Z</dcterms:created>
  <dcterms:modified xsi:type="dcterms:W3CDTF">2026-08-14T07:00:45Z</dcterms:modified>
  <cp:category/>
</cp:coreProperties>
</file>